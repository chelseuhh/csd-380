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24" r:id="rId5"/>
    <p:sldId id="315" r:id="rId6"/>
    <p:sldId id="326" r:id="rId7"/>
    <p:sldId id="310" r:id="rId8"/>
    <p:sldId id="311" r:id="rId9"/>
    <p:sldId id="327" r:id="rId10"/>
    <p:sldId id="328" r:id="rId11"/>
    <p:sldId id="329" r:id="rId12"/>
    <p:sldId id="330" r:id="rId13"/>
    <p:sldId id="334" r:id="rId14"/>
    <p:sldId id="333" r:id="rId15"/>
    <p:sldId id="33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5033" autoAdjust="0"/>
  </p:normalViewPr>
  <p:slideViewPr>
    <p:cSldViewPr snapToGrid="0">
      <p:cViewPr>
        <p:scale>
          <a:sx n="70" d="100"/>
          <a:sy n="70" d="100"/>
        </p:scale>
        <p:origin x="48" y="51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4/27/2025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4/27/2025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420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ED61BFD1-C421-442F-ACC0-868D35B02015}"/>
              </a:ext>
            </a:extLst>
          </p:cNvPr>
          <p:cNvSpPr/>
          <p:nvPr userDrawn="1"/>
        </p:nvSpPr>
        <p:spPr>
          <a:xfrm>
            <a:off x="3166402" y="903484"/>
            <a:ext cx="5859196" cy="5051033"/>
          </a:xfrm>
          <a:prstGeom prst="hexagon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Hexagon 13">
            <a:extLst>
              <a:ext uri="{FF2B5EF4-FFF2-40B4-BE49-F238E27FC236}">
                <a16:creationId xmlns:a16="http://schemas.microsoft.com/office/drawing/2014/main" id="{89B16BC3-CBF9-4BF0-A37A-9F2BB89BED54}"/>
              </a:ext>
            </a:extLst>
          </p:cNvPr>
          <p:cNvSpPr/>
          <p:nvPr userDrawn="1"/>
        </p:nvSpPr>
        <p:spPr>
          <a:xfrm>
            <a:off x="7974278" y="5753530"/>
            <a:ext cx="651613" cy="561736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80EA9ECE-F57C-4B25-AD19-4F78933A61EC}"/>
              </a:ext>
            </a:extLst>
          </p:cNvPr>
          <p:cNvSpPr/>
          <p:nvPr userDrawn="1"/>
        </p:nvSpPr>
        <p:spPr>
          <a:xfrm>
            <a:off x="2255521" y="2751804"/>
            <a:ext cx="785546" cy="677196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DCBDF4EA-BFFB-460D-B9A8-45C097E920DA}"/>
              </a:ext>
            </a:extLst>
          </p:cNvPr>
          <p:cNvSpPr/>
          <p:nvPr userDrawn="1"/>
        </p:nvSpPr>
        <p:spPr>
          <a:xfrm>
            <a:off x="8021783" y="671564"/>
            <a:ext cx="392774" cy="33859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Hexagon 19">
            <a:extLst>
              <a:ext uri="{FF2B5EF4-FFF2-40B4-BE49-F238E27FC236}">
                <a16:creationId xmlns:a16="http://schemas.microsoft.com/office/drawing/2014/main" id="{AB15A15E-528E-4041-8E63-65C0D0398F3A}"/>
              </a:ext>
            </a:extLst>
          </p:cNvPr>
          <p:cNvSpPr/>
          <p:nvPr userDrawn="1"/>
        </p:nvSpPr>
        <p:spPr>
          <a:xfrm>
            <a:off x="2035398" y="3344350"/>
            <a:ext cx="196388" cy="169300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A7A620BD-CFAD-4100-8C9F-494D15A0A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846" y="2576760"/>
            <a:ext cx="3924935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6848" y="1899514"/>
            <a:ext cx="3924934" cy="490538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E0A61465-6ECA-46DC-97DD-7BCFDB69EB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4582" y="4459105"/>
            <a:ext cx="3222836" cy="1168530"/>
          </a:xfrm>
          <a:prstGeom prst="rect">
            <a:avLst/>
          </a:prstGeom>
        </p:spPr>
        <p:txBody>
          <a:bodyPr anchor="b"/>
          <a:lstStyle>
            <a:lvl1pPr algn="r">
              <a:buNone/>
              <a:defRPr lang="en-US" sz="16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487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75D96571-69F8-475F-A910-ECC18342506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Oval 2" descr="Tall office building looking up">
            <a:extLst>
              <a:ext uri="{FF2B5EF4-FFF2-40B4-BE49-F238E27FC236}">
                <a16:creationId xmlns:a16="http://schemas.microsoft.com/office/drawing/2014/main" id="{CD4C2457-AECB-4015-9FE4-CCBC516AA9EE}"/>
              </a:ext>
            </a:extLst>
          </p:cNvPr>
          <p:cNvSpPr/>
          <p:nvPr userDrawn="1"/>
        </p:nvSpPr>
        <p:spPr>
          <a:xfrm>
            <a:off x="3352800" y="685800"/>
            <a:ext cx="5486400" cy="5486400"/>
          </a:xfrm>
          <a:prstGeom prst="ellipse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9A018F-D11C-4B07-9830-8336B27A18AD}"/>
              </a:ext>
            </a:extLst>
          </p:cNvPr>
          <p:cNvSpPr/>
          <p:nvPr userDrawn="1"/>
        </p:nvSpPr>
        <p:spPr>
          <a:xfrm>
            <a:off x="8138160" y="5669280"/>
            <a:ext cx="502920" cy="50292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209A32-FE17-4457-B02B-0A1DB9B8ADB1}"/>
              </a:ext>
            </a:extLst>
          </p:cNvPr>
          <p:cNvSpPr/>
          <p:nvPr userDrawn="1"/>
        </p:nvSpPr>
        <p:spPr>
          <a:xfrm>
            <a:off x="2915463" y="1295169"/>
            <a:ext cx="692878" cy="69287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585A541-0EDE-4213-AE62-4D909E8EB7F5}"/>
              </a:ext>
            </a:extLst>
          </p:cNvPr>
          <p:cNvSpPr/>
          <p:nvPr userDrawn="1"/>
        </p:nvSpPr>
        <p:spPr>
          <a:xfrm>
            <a:off x="3398520" y="904895"/>
            <a:ext cx="251460" cy="25146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CBFD020D-881A-48D8-BDA8-55C7B95C5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27927" y="4609453"/>
            <a:ext cx="3924934" cy="490538"/>
          </a:xfrm>
          <a:prstGeom prst="rect">
            <a:avLst/>
          </a:prstGeom>
        </p:spPr>
        <p:txBody>
          <a:bodyPr anchor="b"/>
          <a:lstStyle>
            <a:lvl1pPr algn="ctr">
              <a:buNone/>
              <a:defRPr lang="en-US" sz="20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9687A5-0BDD-45B2-A892-542449E31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678" y="1988047"/>
            <a:ext cx="4007183" cy="2374194"/>
          </a:xfrm>
          <a:prstGeom prst="rect">
            <a:avLst/>
          </a:prstGeom>
        </p:spPr>
        <p:txBody>
          <a:bodyPr/>
          <a:lstStyle>
            <a:lvl1pPr algn="ctr">
              <a:spcBef>
                <a:spcPts val="1000"/>
              </a:spcBef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324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370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41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97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3CD802-D0A0-4EAC-8222-78FFDDD76A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2039392"/>
            <a:ext cx="10515600" cy="411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BCB8BF-DA17-4856-91E9-77C601F2B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5000"/>
            <a:ext cx="10515600" cy="700115"/>
          </a:xfrm>
          <a:prstGeom prst="rect">
            <a:avLst/>
          </a:prstGeom>
        </p:spPr>
        <p:txBody>
          <a:bodyPr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989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305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ontent Placeholder 39">
            <a:extLst>
              <a:ext uri="{FF2B5EF4-FFF2-40B4-BE49-F238E27FC236}">
                <a16:creationId xmlns:a16="http://schemas.microsoft.com/office/drawing/2014/main" id="{6BB16225-AC51-4525-A1E8-438B8B0B736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739655" y="2117897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1" name="Content Placeholder 39">
            <a:extLst>
              <a:ext uri="{FF2B5EF4-FFF2-40B4-BE49-F238E27FC236}">
                <a16:creationId xmlns:a16="http://schemas.microsoft.com/office/drawing/2014/main" id="{6EC38F38-5935-49D5-AA85-4182E82D6FF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39655" y="4724146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Content Placeholder 39">
            <a:extLst>
              <a:ext uri="{FF2B5EF4-FFF2-40B4-BE49-F238E27FC236}">
                <a16:creationId xmlns:a16="http://schemas.microsoft.com/office/drawing/2014/main" id="{51C9D5ED-A19A-42A1-9200-C77E39E6F5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739655" y="3420892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Content Placeholder 39">
            <a:extLst>
              <a:ext uri="{FF2B5EF4-FFF2-40B4-BE49-F238E27FC236}">
                <a16:creationId xmlns:a16="http://schemas.microsoft.com/office/drawing/2014/main" id="{47A95437-77F3-4E2C-8470-57587793A1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493865" y="2117897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4" name="Content Placeholder 39">
            <a:extLst>
              <a:ext uri="{FF2B5EF4-FFF2-40B4-BE49-F238E27FC236}">
                <a16:creationId xmlns:a16="http://schemas.microsoft.com/office/drawing/2014/main" id="{CB1EA2BE-D294-486E-88F0-2AA9518A6E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93865" y="4724146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5" name="Content Placeholder 39">
            <a:extLst>
              <a:ext uri="{FF2B5EF4-FFF2-40B4-BE49-F238E27FC236}">
                <a16:creationId xmlns:a16="http://schemas.microsoft.com/office/drawing/2014/main" id="{108734A0-880E-44E2-858F-7AA6C6B0A5A3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93865" y="3420892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3CED4CD-5348-488E-A883-0486DD574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10693400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06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061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1E0F77B-E8C6-4A86-B521-8368A308A9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7700" y="2057818"/>
            <a:ext cx="508000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ACFBE9-8475-4CC0-8189-87BFC4059A86}"/>
              </a:ext>
            </a:extLst>
          </p:cNvPr>
          <p:cNvSpPr/>
          <p:nvPr userDrawn="1"/>
        </p:nvSpPr>
        <p:spPr>
          <a:xfrm>
            <a:off x="10385897" y="1443145"/>
            <a:ext cx="471170" cy="47117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F8C6FC8-D350-4A01-A7E0-5AEDAC96F358}"/>
              </a:ext>
            </a:extLst>
          </p:cNvPr>
          <p:cNvSpPr/>
          <p:nvPr userDrawn="1"/>
        </p:nvSpPr>
        <p:spPr>
          <a:xfrm>
            <a:off x="8910011" y="328773"/>
            <a:ext cx="317813" cy="31781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8F1038A-897D-4C38-B499-73FC76C716FA}"/>
              </a:ext>
            </a:extLst>
          </p:cNvPr>
          <p:cNvSpPr/>
          <p:nvPr userDrawn="1"/>
        </p:nvSpPr>
        <p:spPr>
          <a:xfrm flipH="1">
            <a:off x="8634932" y="623939"/>
            <a:ext cx="170406" cy="17040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A6E2374-7B5B-4947-8461-F294B56E70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673522"/>
            <a:ext cx="506730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FB9159BE-CEED-461B-AF31-03BC124E27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51600" y="2061363"/>
            <a:ext cx="508000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5">
            <a:extLst>
              <a:ext uri="{FF2B5EF4-FFF2-40B4-BE49-F238E27FC236}">
                <a16:creationId xmlns:a16="http://schemas.microsoft.com/office/drawing/2014/main" id="{2C15BD20-69D8-4EC1-8A33-A0C6EAFD30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64300" y="2677067"/>
            <a:ext cx="506730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57B52D4-8D50-4E16-B60E-688B084764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61647" y="0"/>
            <a:ext cx="2930353" cy="1559882"/>
          </a:xfrm>
          <a:custGeom>
            <a:avLst/>
            <a:gdLst>
              <a:gd name="connsiteX0" fmla="*/ 562125 w 2930353"/>
              <a:gd name="connsiteY0" fmla="*/ 435632 h 1559882"/>
              <a:gd name="connsiteX1" fmla="*/ 1124250 w 2930353"/>
              <a:gd name="connsiteY1" fmla="*/ 997757 h 1559882"/>
              <a:gd name="connsiteX2" fmla="*/ 562125 w 2930353"/>
              <a:gd name="connsiteY2" fmla="*/ 1559882 h 1559882"/>
              <a:gd name="connsiteX3" fmla="*/ 0 w 2930353"/>
              <a:gd name="connsiteY3" fmla="*/ 997757 h 1559882"/>
              <a:gd name="connsiteX4" fmla="*/ 562125 w 2930353"/>
              <a:gd name="connsiteY4" fmla="*/ 435632 h 1559882"/>
              <a:gd name="connsiteX5" fmla="*/ 1475035 w 2930353"/>
              <a:gd name="connsiteY5" fmla="*/ 0 h 1559882"/>
              <a:gd name="connsiteX6" fmla="*/ 2930353 w 2930353"/>
              <a:gd name="connsiteY6" fmla="*/ 0 h 1559882"/>
              <a:gd name="connsiteX7" fmla="*/ 2930353 w 2930353"/>
              <a:gd name="connsiteY7" fmla="*/ 1239091 h 1559882"/>
              <a:gd name="connsiteX8" fmla="*/ 2822571 w 2930353"/>
              <a:gd name="connsiteY8" fmla="*/ 1328020 h 1559882"/>
              <a:gd name="connsiteX9" fmla="*/ 2282653 w 2930353"/>
              <a:gd name="connsiteY9" fmla="*/ 1492942 h 1559882"/>
              <a:gd name="connsiteX10" fmla="*/ 1316979 w 2930353"/>
              <a:gd name="connsiteY10" fmla="*/ 527268 h 1559882"/>
              <a:gd name="connsiteX11" fmla="*/ 1392867 w 2930353"/>
              <a:gd name="connsiteY11" fmla="*/ 151384 h 1559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30353" h="1559882">
                <a:moveTo>
                  <a:pt x="562125" y="435632"/>
                </a:moveTo>
                <a:cubicBezTo>
                  <a:pt x="872578" y="435632"/>
                  <a:pt x="1124250" y="687304"/>
                  <a:pt x="1124250" y="997757"/>
                </a:cubicBezTo>
                <a:cubicBezTo>
                  <a:pt x="1124250" y="1308210"/>
                  <a:pt x="872578" y="1559882"/>
                  <a:pt x="562125" y="1559882"/>
                </a:cubicBezTo>
                <a:cubicBezTo>
                  <a:pt x="251672" y="1559882"/>
                  <a:pt x="0" y="1308210"/>
                  <a:pt x="0" y="997757"/>
                </a:cubicBezTo>
                <a:cubicBezTo>
                  <a:pt x="0" y="687304"/>
                  <a:pt x="251672" y="435632"/>
                  <a:pt x="562125" y="435632"/>
                </a:cubicBezTo>
                <a:close/>
                <a:moveTo>
                  <a:pt x="1475035" y="0"/>
                </a:moveTo>
                <a:lnTo>
                  <a:pt x="2930353" y="0"/>
                </a:lnTo>
                <a:lnTo>
                  <a:pt x="2930353" y="1239091"/>
                </a:lnTo>
                <a:lnTo>
                  <a:pt x="2822571" y="1328020"/>
                </a:lnTo>
                <a:cubicBezTo>
                  <a:pt x="2668448" y="1432143"/>
                  <a:pt x="2482651" y="1492942"/>
                  <a:pt x="2282653" y="1492942"/>
                </a:cubicBezTo>
                <a:cubicBezTo>
                  <a:pt x="1749326" y="1492942"/>
                  <a:pt x="1316979" y="1060595"/>
                  <a:pt x="1316979" y="527268"/>
                </a:cubicBezTo>
                <a:cubicBezTo>
                  <a:pt x="1316979" y="393936"/>
                  <a:pt x="1344001" y="266916"/>
                  <a:pt x="1392867" y="15138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2F03355-C197-48C4-A4DF-B41338483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901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1E0F77B-E8C6-4A86-B521-8368A308A9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0400" y="2037656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A6E2374-7B5B-4947-8461-F294B56E70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664637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FB9159BE-CEED-461B-AF31-03BC124E27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44180" y="2052478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5">
            <a:extLst>
              <a:ext uri="{FF2B5EF4-FFF2-40B4-BE49-F238E27FC236}">
                <a16:creationId xmlns:a16="http://schemas.microsoft.com/office/drawing/2014/main" id="{2C15BD20-69D8-4EC1-8A33-A0C6EAFD30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56880" y="2668182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7">
            <a:extLst>
              <a:ext uri="{FF2B5EF4-FFF2-40B4-BE49-F238E27FC236}">
                <a16:creationId xmlns:a16="http://schemas.microsoft.com/office/drawing/2014/main" id="{4FDB27CA-009D-4863-B119-0EC3683714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2290" y="2048933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5">
            <a:extLst>
              <a:ext uri="{FF2B5EF4-FFF2-40B4-BE49-F238E27FC236}">
                <a16:creationId xmlns:a16="http://schemas.microsoft.com/office/drawing/2014/main" id="{FD03E3EF-D812-4B98-959B-6800BBE59D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64990" y="2664637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Hexagon 2">
            <a:extLst>
              <a:ext uri="{FF2B5EF4-FFF2-40B4-BE49-F238E27FC236}">
                <a16:creationId xmlns:a16="http://schemas.microsoft.com/office/drawing/2014/main" id="{303FFB35-43AC-4A56-92D0-91038C098B3C}"/>
              </a:ext>
            </a:extLst>
          </p:cNvPr>
          <p:cNvSpPr/>
          <p:nvPr userDrawn="1"/>
        </p:nvSpPr>
        <p:spPr>
          <a:xfrm>
            <a:off x="10700126" y="788523"/>
            <a:ext cx="1155906" cy="99647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Hexagon 3">
            <a:extLst>
              <a:ext uri="{FF2B5EF4-FFF2-40B4-BE49-F238E27FC236}">
                <a16:creationId xmlns:a16="http://schemas.microsoft.com/office/drawing/2014/main" id="{AAF31DA0-707D-4A5D-BB7A-A5C90DB11A55}"/>
              </a:ext>
            </a:extLst>
          </p:cNvPr>
          <p:cNvSpPr/>
          <p:nvPr userDrawn="1"/>
        </p:nvSpPr>
        <p:spPr>
          <a:xfrm>
            <a:off x="11388427" y="1859136"/>
            <a:ext cx="315205" cy="271728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539F452B-F55F-4D85-834B-A7EAF742647C}"/>
              </a:ext>
            </a:extLst>
          </p:cNvPr>
          <p:cNvSpPr/>
          <p:nvPr userDrawn="1"/>
        </p:nvSpPr>
        <p:spPr>
          <a:xfrm>
            <a:off x="9014155" y="740289"/>
            <a:ext cx="379060" cy="326776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1D9F6BE-FB0B-42EE-8F02-95F5CC03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C67FFA0E-8AAA-4DEB-B97E-31969F57927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93238" y="2"/>
            <a:ext cx="2798762" cy="1354861"/>
          </a:xfrm>
          <a:custGeom>
            <a:avLst/>
            <a:gdLst>
              <a:gd name="connsiteX0" fmla="*/ 316595 w 2798762"/>
              <a:gd name="connsiteY0" fmla="*/ 88390 h 1354861"/>
              <a:gd name="connsiteX1" fmla="*/ 1152465 w 2798762"/>
              <a:gd name="connsiteY1" fmla="*/ 88390 h 1354861"/>
              <a:gd name="connsiteX2" fmla="*/ 1469083 w 2798762"/>
              <a:gd name="connsiteY2" fmla="*/ 721626 h 1354861"/>
              <a:gd name="connsiteX3" fmla="*/ 1152465 w 2798762"/>
              <a:gd name="connsiteY3" fmla="*/ 1354861 h 1354861"/>
              <a:gd name="connsiteX4" fmla="*/ 316595 w 2798762"/>
              <a:gd name="connsiteY4" fmla="*/ 1354861 h 1354861"/>
              <a:gd name="connsiteX5" fmla="*/ 0 w 2798762"/>
              <a:gd name="connsiteY5" fmla="*/ 721672 h 1354861"/>
              <a:gd name="connsiteX6" fmla="*/ 0 w 2798762"/>
              <a:gd name="connsiteY6" fmla="*/ 721580 h 1354861"/>
              <a:gd name="connsiteX7" fmla="*/ 1250372 w 2798762"/>
              <a:gd name="connsiteY7" fmla="*/ 0 h 1354861"/>
              <a:gd name="connsiteX8" fmla="*/ 2798762 w 2798762"/>
              <a:gd name="connsiteY8" fmla="*/ 0 h 1354861"/>
              <a:gd name="connsiteX9" fmla="*/ 2798762 w 2798762"/>
              <a:gd name="connsiteY9" fmla="*/ 505978 h 1354861"/>
              <a:gd name="connsiteX10" fmla="*/ 2719777 w 2798762"/>
              <a:gd name="connsiteY10" fmla="*/ 663948 h 1354861"/>
              <a:gd name="connsiteX11" fmla="*/ 1582346 w 2798762"/>
              <a:gd name="connsiteY11" fmla="*/ 663948 h 1354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98762" h="1354861">
                <a:moveTo>
                  <a:pt x="316595" y="88390"/>
                </a:moveTo>
                <a:lnTo>
                  <a:pt x="1152465" y="88390"/>
                </a:lnTo>
                <a:lnTo>
                  <a:pt x="1469083" y="721626"/>
                </a:lnTo>
                <a:lnTo>
                  <a:pt x="1152465" y="1354861"/>
                </a:lnTo>
                <a:lnTo>
                  <a:pt x="316595" y="1354861"/>
                </a:lnTo>
                <a:lnTo>
                  <a:pt x="0" y="721672"/>
                </a:lnTo>
                <a:lnTo>
                  <a:pt x="0" y="721580"/>
                </a:lnTo>
                <a:close/>
                <a:moveTo>
                  <a:pt x="1250372" y="0"/>
                </a:moveTo>
                <a:lnTo>
                  <a:pt x="2798762" y="0"/>
                </a:lnTo>
                <a:lnTo>
                  <a:pt x="2798762" y="505978"/>
                </a:lnTo>
                <a:lnTo>
                  <a:pt x="2719777" y="663948"/>
                </a:lnTo>
                <a:lnTo>
                  <a:pt x="1582346" y="663948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55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5E74AFC3-1C60-42DE-ABAC-F53CA85AC6F1}"/>
              </a:ext>
            </a:extLst>
          </p:cNvPr>
          <p:cNvSpPr/>
          <p:nvPr userDrawn="1"/>
        </p:nvSpPr>
        <p:spPr>
          <a:xfrm>
            <a:off x="5897272" y="1457542"/>
            <a:ext cx="617218" cy="61721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133261-FFEB-4B3D-B085-14AEAE741F82}"/>
              </a:ext>
            </a:extLst>
          </p:cNvPr>
          <p:cNvSpPr/>
          <p:nvPr userDrawn="1"/>
        </p:nvSpPr>
        <p:spPr>
          <a:xfrm>
            <a:off x="9810348" y="5955461"/>
            <a:ext cx="394539" cy="39453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3FE105-1D8E-48B0-AD9A-95AC9A165651}"/>
              </a:ext>
            </a:extLst>
          </p:cNvPr>
          <p:cNvSpPr/>
          <p:nvPr userDrawn="1"/>
        </p:nvSpPr>
        <p:spPr>
          <a:xfrm>
            <a:off x="6514490" y="946887"/>
            <a:ext cx="335852" cy="33585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4388F5-0DCA-4A09-A6E1-AE07F40309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1" y="2042790"/>
            <a:ext cx="4143374" cy="26543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02C12FDC-BC11-43E8-B22A-3EC48E0344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7699" y="4953919"/>
            <a:ext cx="4143375" cy="7594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</a:defRPr>
            </a:lvl1pPr>
            <a:lvl2pPr>
              <a:buNone/>
              <a:defRPr sz="2000"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D43F412-F2C7-4D38-BDD0-966302908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7402" y="533063"/>
            <a:ext cx="5542598" cy="5611666"/>
          </a:xfrm>
          <a:custGeom>
            <a:avLst/>
            <a:gdLst>
              <a:gd name="connsiteX0" fmla="*/ 3354105 w 5542598"/>
              <a:gd name="connsiteY0" fmla="*/ 4359376 h 5611666"/>
              <a:gd name="connsiteX1" fmla="*/ 3980250 w 5542598"/>
              <a:gd name="connsiteY1" fmla="*/ 4985521 h 5611666"/>
              <a:gd name="connsiteX2" fmla="*/ 3354105 w 5542598"/>
              <a:gd name="connsiteY2" fmla="*/ 5611666 h 5611666"/>
              <a:gd name="connsiteX3" fmla="*/ 2727960 w 5542598"/>
              <a:gd name="connsiteY3" fmla="*/ 4985521 h 5611666"/>
              <a:gd name="connsiteX4" fmla="*/ 3354105 w 5542598"/>
              <a:gd name="connsiteY4" fmla="*/ 4359376 h 5611666"/>
              <a:gd name="connsiteX5" fmla="*/ 1592580 w 5542598"/>
              <a:gd name="connsiteY5" fmla="*/ 1430357 h 5611666"/>
              <a:gd name="connsiteX6" fmla="*/ 3185160 w 5542598"/>
              <a:gd name="connsiteY6" fmla="*/ 3022937 h 5611666"/>
              <a:gd name="connsiteX7" fmla="*/ 1592580 w 5542598"/>
              <a:gd name="connsiteY7" fmla="*/ 4615517 h 5611666"/>
              <a:gd name="connsiteX8" fmla="*/ 0 w 5542598"/>
              <a:gd name="connsiteY8" fmla="*/ 3022937 h 5611666"/>
              <a:gd name="connsiteX9" fmla="*/ 1592580 w 5542598"/>
              <a:gd name="connsiteY9" fmla="*/ 1430357 h 5611666"/>
              <a:gd name="connsiteX10" fmla="*/ 4230267 w 5542598"/>
              <a:gd name="connsiteY10" fmla="*/ 0 h 5611666"/>
              <a:gd name="connsiteX11" fmla="*/ 5542598 w 5542598"/>
              <a:gd name="connsiteY11" fmla="*/ 1312331 h 5611666"/>
              <a:gd name="connsiteX12" fmla="*/ 4230267 w 5542598"/>
              <a:gd name="connsiteY12" fmla="*/ 2624662 h 5611666"/>
              <a:gd name="connsiteX13" fmla="*/ 2917936 w 5542598"/>
              <a:gd name="connsiteY13" fmla="*/ 1312331 h 5611666"/>
              <a:gd name="connsiteX14" fmla="*/ 4230267 w 5542598"/>
              <a:gd name="connsiteY14" fmla="*/ 0 h 561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542598" h="5611666">
                <a:moveTo>
                  <a:pt x="3354105" y="4359376"/>
                </a:moveTo>
                <a:cubicBezTo>
                  <a:pt x="3699915" y="4359376"/>
                  <a:pt x="3980250" y="4639711"/>
                  <a:pt x="3980250" y="4985521"/>
                </a:cubicBezTo>
                <a:cubicBezTo>
                  <a:pt x="3980250" y="5331331"/>
                  <a:pt x="3699915" y="5611666"/>
                  <a:pt x="3354105" y="5611666"/>
                </a:cubicBezTo>
                <a:cubicBezTo>
                  <a:pt x="3008295" y="5611666"/>
                  <a:pt x="2727960" y="5331331"/>
                  <a:pt x="2727960" y="4985521"/>
                </a:cubicBezTo>
                <a:cubicBezTo>
                  <a:pt x="2727960" y="4639711"/>
                  <a:pt x="3008295" y="4359376"/>
                  <a:pt x="3354105" y="4359376"/>
                </a:cubicBezTo>
                <a:close/>
                <a:moveTo>
                  <a:pt x="1592580" y="1430357"/>
                </a:moveTo>
                <a:cubicBezTo>
                  <a:pt x="2472138" y="1430357"/>
                  <a:pt x="3185160" y="2143379"/>
                  <a:pt x="3185160" y="3022937"/>
                </a:cubicBezTo>
                <a:cubicBezTo>
                  <a:pt x="3185160" y="3902495"/>
                  <a:pt x="2472138" y="4615517"/>
                  <a:pt x="1592580" y="4615517"/>
                </a:cubicBezTo>
                <a:cubicBezTo>
                  <a:pt x="713022" y="4615517"/>
                  <a:pt x="0" y="3902495"/>
                  <a:pt x="0" y="3022937"/>
                </a:cubicBezTo>
                <a:cubicBezTo>
                  <a:pt x="0" y="2143379"/>
                  <a:pt x="713022" y="1430357"/>
                  <a:pt x="1592580" y="1430357"/>
                </a:cubicBezTo>
                <a:close/>
                <a:moveTo>
                  <a:pt x="4230267" y="0"/>
                </a:moveTo>
                <a:cubicBezTo>
                  <a:pt x="4955047" y="0"/>
                  <a:pt x="5542598" y="587551"/>
                  <a:pt x="5542598" y="1312331"/>
                </a:cubicBezTo>
                <a:cubicBezTo>
                  <a:pt x="5542598" y="2037111"/>
                  <a:pt x="4955047" y="2624662"/>
                  <a:pt x="4230267" y="2624662"/>
                </a:cubicBezTo>
                <a:cubicBezTo>
                  <a:pt x="3505487" y="2624662"/>
                  <a:pt x="2917936" y="2037111"/>
                  <a:pt x="2917936" y="1312331"/>
                </a:cubicBezTo>
                <a:cubicBezTo>
                  <a:pt x="2917936" y="587551"/>
                  <a:pt x="3505487" y="0"/>
                  <a:pt x="423026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1176083-2CE5-4707-A564-4680545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186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1AD702D-965C-40E9-8D23-D82E2CFA9E61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4/27/2025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E0959-6855-4447-BAEC-D32B47712F07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A05B6A-9124-4DBB-843A-84818A8F79FC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88" r:id="rId3"/>
    <p:sldLayoutId id="2147483681" r:id="rId4"/>
    <p:sldLayoutId id="2147483680" r:id="rId5"/>
    <p:sldLayoutId id="2147483682" r:id="rId6"/>
    <p:sldLayoutId id="2147483677" r:id="rId7"/>
    <p:sldLayoutId id="2147483654" r:id="rId8"/>
    <p:sldLayoutId id="2147483685" r:id="rId9"/>
    <p:sldLayoutId id="2147483684" r:id="rId10"/>
    <p:sldLayoutId id="2147483686" r:id="rId11"/>
    <p:sldLayoutId id="2147483687" r:id="rId12"/>
    <p:sldLayoutId id="214748367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7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gerduty.com/resources/incident-management-response/learn/call-rotations-schedules/?adgroup_id=150878489188&amp;campaign_id=18599924057&amp;cq_cmp=18599924057&amp;cq_con=150878489188&amp;cq_med=&amp;cq_net=g&amp;cq_plac=&amp;cq_plt=gp&amp;cq_src=google_ads&amp;cq_term=on%20call%20management&amp;creative_id=628144644220&amp;gad_source=1&amp;gbraid=0AAAAADrfZWPk-8mGwh8KeUYcN2DXjrmDe&amp;gclid=CjwKCAjwq7fABhB2EiwAwk-YbNIS9UmlvUkVd48GfsWlFLwf7MlDAPJRCaa0dzDaBTVdiN0wObZcPxoCSZ4QAvD_BwE&amp;utm_campaign=grow-revenue_demand&amp;utm_content=nam_lg_on-call-management_kwd-299582208469&amp;utm_creative_format=&amp;utm_marketing_tactic=t-i&amp;utm_medium=cpc&amp;utm_source=google&amp;utm_source_platform=gads&amp;utm_term=on%20call%20management" TargetMode="External"/><Relationship Id="rId2" Type="http://schemas.openxmlformats.org/officeDocument/2006/relationships/hyperlink" Target="https://sre.google/books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 12" descr="Blue glass building">
            <a:extLst>
              <a:ext uri="{FF2B5EF4-FFF2-40B4-BE49-F238E27FC236}">
                <a16:creationId xmlns:a16="http://schemas.microsoft.com/office/drawing/2014/main" id="{E6A5B61D-69C0-4661-AD66-3D72D9A6E86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alphaModFix amt="80000"/>
          </a:blip>
          <a:srcRect t="7802" b="7802"/>
          <a:stretch/>
        </p:blipFill>
        <p:spPr>
          <a:xfrm>
            <a:off x="0" y="0"/>
            <a:ext cx="12192000" cy="6858000"/>
          </a:xfrm>
          <a:blipFill dpi="0" rotWithShape="1">
            <a:blip r:embed="rId3">
              <a:alphaModFix amt="8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</p:pic>
      <p:sp>
        <p:nvSpPr>
          <p:cNvPr id="6" name="Hexagon 5">
            <a:extLst>
              <a:ext uri="{FF2B5EF4-FFF2-40B4-BE49-F238E27FC236}">
                <a16:creationId xmlns:a16="http://schemas.microsoft.com/office/drawing/2014/main" id="{38AF5374-EA50-4722-BB45-6C182E5A1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6402" y="903484"/>
            <a:ext cx="5859196" cy="5051033"/>
          </a:xfrm>
          <a:prstGeom prst="hexagon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837CEB-1A69-4F72-95D4-054D82F09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Pager Rotation Duties</a:t>
            </a:r>
            <a:b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FAF4E3-C8A2-4861-A67E-040D885F84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DevOps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6DF5064-7AAC-4887-9BD5-FB6BC40A67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Chelsea Hefferin</a:t>
            </a:r>
          </a:p>
          <a:p>
            <a:r>
              <a:rPr lang="en-US" dirty="0"/>
              <a:t>27</a:t>
            </a:r>
            <a:r>
              <a:rPr lang="en-US" baseline="30000" dirty="0"/>
              <a:t>th</a:t>
            </a:r>
            <a:r>
              <a:rPr lang="en-US" dirty="0"/>
              <a:t> of April 2025</a:t>
            </a:r>
          </a:p>
        </p:txBody>
      </p:sp>
      <p:sp>
        <p:nvSpPr>
          <p:cNvPr id="21" name="Hexagon 20">
            <a:extLst>
              <a:ext uri="{FF2B5EF4-FFF2-40B4-BE49-F238E27FC236}">
                <a16:creationId xmlns:a16="http://schemas.microsoft.com/office/drawing/2014/main" id="{35FAA64B-9D7A-4109-97E0-B0BAA29C4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74278" y="5753530"/>
            <a:ext cx="651613" cy="561736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00A0E61B-8139-47E5-862B-C6D87AFF3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5521" y="2751804"/>
            <a:ext cx="785546" cy="677196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B06F39E4-24A5-44F2-BD9A-7E8C8AF27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1783" y="671564"/>
            <a:ext cx="392774" cy="33859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Hexagon 1">
            <a:extLst>
              <a:ext uri="{FF2B5EF4-FFF2-40B4-BE49-F238E27FC236}">
                <a16:creationId xmlns:a16="http://schemas.microsoft.com/office/drawing/2014/main" id="{62F7433A-0BB9-4B38-A96F-AB1B77772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5398" y="3344350"/>
            <a:ext cx="196388" cy="169300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993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EF53E3-F88C-4203-A489-8C9D57513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8558663" cy="830997"/>
          </a:xfrm>
        </p:spPr>
        <p:txBody>
          <a:bodyPr/>
          <a:lstStyle/>
          <a:p>
            <a:r>
              <a:rPr lang="en-US" dirty="0"/>
              <a:t>What Are Pager Rotation Duties?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F03AADD-A4FE-4CE8-944C-3F9C9777F0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5071660" cy="35607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Pager rotation refers to the system where engineers take turns being on-call to respond to critical incidents.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Objective: Minimize downtime, ensure quick incident resolution, and improve system reliability.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fosters collaboration between development and operations, promoting shared accountability.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https://youtu.be/hZutwakbxcA</a:t>
            </a:r>
          </a:p>
        </p:txBody>
      </p:sp>
      <p:pic>
        <p:nvPicPr>
          <p:cNvPr id="4" name="Picture Placeholder 3" descr="close up of building">
            <a:extLst>
              <a:ext uri="{FF2B5EF4-FFF2-40B4-BE49-F238E27FC236}">
                <a16:creationId xmlns:a16="http://schemas.microsoft.com/office/drawing/2014/main" id="{5EAB7860-C105-46A8-8B51-C886DCFAB52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2544" r="2254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Reflection of city at dusk on mirrored building">
            <a:extLst>
              <a:ext uri="{FF2B5EF4-FFF2-40B4-BE49-F238E27FC236}">
                <a16:creationId xmlns:a16="http://schemas.microsoft.com/office/drawing/2014/main" id="{80F641B8-D4CB-4B34-AF57-A526981DEDA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80000"/>
          </a:blip>
          <a:srcRect t="6692" b="6692"/>
          <a:stretch/>
        </p:blipFill>
        <p:spPr>
          <a:xfrm>
            <a:off x="-5606" y="0"/>
            <a:ext cx="12192000" cy="6858000"/>
          </a:xfr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8461F53-81E4-4F48-8B4D-56B6013B1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17459" y="685800"/>
            <a:ext cx="5757081" cy="5742296"/>
          </a:xfrm>
          <a:prstGeom prst="ellipse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CA4A65-0235-4CB2-B09E-4E2D8F22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095" y="1727590"/>
            <a:ext cx="4623525" cy="3402819"/>
          </a:xfrm>
        </p:spPr>
        <p:txBody>
          <a:bodyPr/>
          <a:lstStyle/>
          <a:p>
            <a:pPr algn="l">
              <a:buClr>
                <a:srgbClr val="FFC000"/>
              </a:buClr>
            </a:pPr>
            <a:br>
              <a:rPr lang="en-US" dirty="0"/>
            </a:br>
            <a:r>
              <a:rPr lang="en-US" dirty="0"/>
              <a:t>Prevents engineer burnout and enhances work-life balance.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Ensures timely response to incidents and system stability.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Strengthens operational resilience and customer trust.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33AD71F-DA66-44DD-B812-447839E53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8160" y="5669280"/>
            <a:ext cx="502920" cy="50292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7CF27D1-2BD8-40D7-A92B-834F8A4F7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15463" y="1295169"/>
            <a:ext cx="692878" cy="69287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0F2B13-F976-4C2D-883C-E495CDF04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98520" y="904895"/>
            <a:ext cx="251460" cy="25146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DE5458-0766-49A5-8982-EF9557A6BB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27926" y="1714167"/>
            <a:ext cx="3924934" cy="490538"/>
          </a:xfrm>
        </p:spPr>
        <p:txBody>
          <a:bodyPr/>
          <a:lstStyle/>
          <a:p>
            <a:pPr>
              <a:buNone/>
            </a:pPr>
            <a:r>
              <a:rPr lang="en-US" sz="2800" b="1" dirty="0"/>
              <a:t>Importance of Effective On-Call Management</a:t>
            </a:r>
          </a:p>
        </p:txBody>
      </p:sp>
    </p:spTree>
    <p:extLst>
      <p:ext uri="{BB962C8B-B14F-4D97-AF65-F5344CB8AC3E}">
        <p14:creationId xmlns:p14="http://schemas.microsoft.com/office/powerpoint/2010/main" val="4101399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Placeholder 4" descr="close up of building">
            <a:extLst>
              <a:ext uri="{FF2B5EF4-FFF2-40B4-BE49-F238E27FC236}">
                <a16:creationId xmlns:a16="http://schemas.microsoft.com/office/drawing/2014/main" id="{B43125FE-4923-4B38-ADD6-3F547696AB11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2"/>
          <a:srcRect t="10082" b="10082"/>
          <a:stretch/>
        </p:blipFill>
        <p:spPr>
          <a:xfrm>
            <a:off x="9261475" y="1108478"/>
            <a:ext cx="2930525" cy="1560513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6982E48-3FB5-4F2E-AE87-E5E0838657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399" y="2141259"/>
            <a:ext cx="10134980" cy="3488442"/>
          </a:xfrm>
        </p:spPr>
        <p:txBody>
          <a:bodyPr/>
          <a:lstStyle/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Distribute shifts fairly to prevent overloading specific individuals.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Rotate duties regularly so everyone shares the responsibility.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Consider time zones and working hours for global teams.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17E6D6-C63D-4A7C-B1F1-1E8117B25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9589069" cy="830997"/>
          </a:xfrm>
        </p:spPr>
        <p:txBody>
          <a:bodyPr/>
          <a:lstStyle/>
          <a:p>
            <a:r>
              <a:rPr lang="en-US" dirty="0"/>
              <a:t>Best Practice #1 – Balanced On-Call Scheduling</a:t>
            </a:r>
          </a:p>
        </p:txBody>
      </p:sp>
    </p:spTree>
    <p:extLst>
      <p:ext uri="{BB962C8B-B14F-4D97-AF65-F5344CB8AC3E}">
        <p14:creationId xmlns:p14="http://schemas.microsoft.com/office/powerpoint/2010/main" val="300737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B89E9C66-E38F-4FFF-B1A6-BA4E05DD8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Best Practice #2 – Escalation Policies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5A9FCEFE-ADCB-4861-8CEA-A074136512A6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0AED82-F4F3-044A-B30A-FD32531BD7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1961356"/>
            <a:ext cx="9125045" cy="2935288"/>
          </a:xfrm>
        </p:spPr>
        <p:txBody>
          <a:bodyPr/>
          <a:lstStyle/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Define clear pathways for escalating incidents based on severity.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Ensure backup support if the primary responder is unavailable.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Use automated escalation to notify the right personnel quickly.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608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EC09F-4C92-EE7D-85E9-7BBA4AA4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A7330F9E-A0FC-63C8-58C7-FB94B7E8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Best Practice #3 – Automated Alerting &amp; Filtering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A16C3340-692F-DA85-607C-5CCD76921602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1A35BB-F819-7B24-C72F-A6F2093226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473147"/>
            <a:ext cx="9125045" cy="29352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Use automation tools to filter out non-critical alerts.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Reduce alert fatigue by adjusting thresholds intelligently.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Ensure alerts provide actionable insights to responders.</a:t>
            </a:r>
          </a:p>
        </p:txBody>
      </p:sp>
    </p:spTree>
    <p:extLst>
      <p:ext uri="{BB962C8B-B14F-4D97-AF65-F5344CB8AC3E}">
        <p14:creationId xmlns:p14="http://schemas.microsoft.com/office/powerpoint/2010/main" val="60183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1CF9D-C6C8-FD07-9DC6-F3BDFC07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FEC99272-F90D-F8C9-6120-7B710F355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Best Practice #4 – Training &amp; Documentation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ABD46CA7-2E60-53C8-147D-C66686F70CD6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29F260-FD2D-F9BE-B5E0-6988DABBFC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473147"/>
            <a:ext cx="9125045" cy="29352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Provide comprehensive training on incident response protocols.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Maintain detailed runbooks to guide engineers through common scenarios.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Conduct regular knowledge-sharing sessions to improve preparedness.</a:t>
            </a:r>
          </a:p>
        </p:txBody>
      </p:sp>
    </p:spTree>
    <p:extLst>
      <p:ext uri="{BB962C8B-B14F-4D97-AF65-F5344CB8AC3E}">
        <p14:creationId xmlns:p14="http://schemas.microsoft.com/office/powerpoint/2010/main" val="39382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8B359-63B3-EA32-A0F3-B3E3CDB6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B566D680-444F-48DA-8B8C-B94D3D87B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Best Practice #5 – Post-Incident Reviews &amp; Continuous Improvement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15A0E84D-B11A-B00A-A338-D9946E100BC5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669DA6-AD3D-CE71-CD15-2FC2F40601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841637"/>
            <a:ext cx="9125045" cy="29352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Conduct retrospectives after major incidents to analyze root causes.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Develop preventive measures to avoid similar issues in the future.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Encourage a blameless culture that focuses on learning and improvement.</a:t>
            </a:r>
          </a:p>
        </p:txBody>
      </p:sp>
    </p:spTree>
    <p:extLst>
      <p:ext uri="{BB962C8B-B14F-4D97-AF65-F5344CB8AC3E}">
        <p14:creationId xmlns:p14="http://schemas.microsoft.com/office/powerpoint/2010/main" val="3641367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23107-19E4-C0E2-C30F-A7053D47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3BB9FEE9-6A10-1D3C-4CE2-B077D6A8A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Best Practice #6 – Compensation &amp; Incentives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FEDE14DB-B3D2-9785-93E1-098DFDDCDFD4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DE1C77-8557-8B96-A622-E7D8412333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350317"/>
            <a:ext cx="9125045" cy="29352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Offer compensation or extra time off for on-call responsibilities.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Recognize and reward engineers for successful incident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Encourage feedback on improving pager rotation practices.</a:t>
            </a:r>
          </a:p>
        </p:txBody>
      </p:sp>
    </p:spTree>
    <p:extLst>
      <p:ext uri="{BB962C8B-B14F-4D97-AF65-F5344CB8AC3E}">
        <p14:creationId xmlns:p14="http://schemas.microsoft.com/office/powerpoint/2010/main" val="257706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013E1-EF7E-5BB6-04DF-ED5C4F3C2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90A4F5DC-8583-CECB-9FAE-14C60A287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8620078" cy="830997"/>
          </a:xfrm>
        </p:spPr>
        <p:txBody>
          <a:bodyPr/>
          <a:lstStyle/>
          <a:p>
            <a:r>
              <a:rPr lang="en-US" dirty="0"/>
              <a:t>Tools Commonly Used for Pager Rotation</a:t>
            </a:r>
            <a:br>
              <a:rPr lang="en-US" dirty="0"/>
            </a:br>
            <a:endParaRPr lang="en-US" dirty="0"/>
          </a:p>
        </p:txBody>
      </p:sp>
      <p:pic>
        <p:nvPicPr>
          <p:cNvPr id="42" name="Picture Placeholder 3" descr="close up of building">
            <a:extLst>
              <a:ext uri="{FF2B5EF4-FFF2-40B4-BE49-F238E27FC236}">
                <a16:creationId xmlns:a16="http://schemas.microsoft.com/office/drawing/2014/main" id="{DAE03B87-032A-525F-149F-7D6A834B947A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rcRect t="13712" b="13712"/>
          <a:stretch>
            <a:fillRect/>
          </a:stretch>
        </p:blipFill>
        <p:spPr>
          <a:xfrm>
            <a:off x="9393238" y="0"/>
            <a:ext cx="2798762" cy="1354138"/>
          </a:xfrm>
          <a:custGeom>
            <a:avLst/>
            <a:gdLst>
              <a:gd name="connsiteX0" fmla="*/ 316595 w 2798762"/>
              <a:gd name="connsiteY0" fmla="*/ 369378 h 1635849"/>
              <a:gd name="connsiteX1" fmla="*/ 1152465 w 2798762"/>
              <a:gd name="connsiteY1" fmla="*/ 369378 h 1635849"/>
              <a:gd name="connsiteX2" fmla="*/ 1469083 w 2798762"/>
              <a:gd name="connsiteY2" fmla="*/ 1002614 h 1635849"/>
              <a:gd name="connsiteX3" fmla="*/ 1152465 w 2798762"/>
              <a:gd name="connsiteY3" fmla="*/ 1635849 h 1635849"/>
              <a:gd name="connsiteX4" fmla="*/ 316595 w 2798762"/>
              <a:gd name="connsiteY4" fmla="*/ 1635849 h 1635849"/>
              <a:gd name="connsiteX5" fmla="*/ 0 w 2798762"/>
              <a:gd name="connsiteY5" fmla="*/ 1002660 h 1635849"/>
              <a:gd name="connsiteX6" fmla="*/ 0 w 2798762"/>
              <a:gd name="connsiteY6" fmla="*/ 1002568 h 1635849"/>
              <a:gd name="connsiteX7" fmla="*/ 1193125 w 2798762"/>
              <a:gd name="connsiteY7" fmla="*/ 0 h 1635849"/>
              <a:gd name="connsiteX8" fmla="*/ 2798762 w 2798762"/>
              <a:gd name="connsiteY8" fmla="*/ 0 h 1635849"/>
              <a:gd name="connsiteX9" fmla="*/ 2798762 w 2798762"/>
              <a:gd name="connsiteY9" fmla="*/ 786966 h 1635849"/>
              <a:gd name="connsiteX10" fmla="*/ 2719777 w 2798762"/>
              <a:gd name="connsiteY10" fmla="*/ 944936 h 1635849"/>
              <a:gd name="connsiteX11" fmla="*/ 1582346 w 2798762"/>
              <a:gd name="connsiteY11" fmla="*/ 944936 h 1635849"/>
              <a:gd name="connsiteX12" fmla="*/ 1151501 w 2798762"/>
              <a:gd name="connsiteY12" fmla="*/ 83246 h 163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98762" h="1635849">
                <a:moveTo>
                  <a:pt x="316595" y="369378"/>
                </a:moveTo>
                <a:lnTo>
                  <a:pt x="1152465" y="369378"/>
                </a:lnTo>
                <a:lnTo>
                  <a:pt x="1469083" y="1002614"/>
                </a:lnTo>
                <a:lnTo>
                  <a:pt x="1152465" y="1635849"/>
                </a:lnTo>
                <a:lnTo>
                  <a:pt x="316595" y="1635849"/>
                </a:lnTo>
                <a:lnTo>
                  <a:pt x="0" y="1002660"/>
                </a:lnTo>
                <a:lnTo>
                  <a:pt x="0" y="1002568"/>
                </a:lnTo>
                <a:close/>
                <a:moveTo>
                  <a:pt x="1193125" y="0"/>
                </a:moveTo>
                <a:lnTo>
                  <a:pt x="2798762" y="0"/>
                </a:lnTo>
                <a:lnTo>
                  <a:pt x="2798762" y="786966"/>
                </a:lnTo>
                <a:lnTo>
                  <a:pt x="2719777" y="944936"/>
                </a:lnTo>
                <a:lnTo>
                  <a:pt x="1582346" y="944936"/>
                </a:lnTo>
                <a:lnTo>
                  <a:pt x="1151501" y="83246"/>
                </a:lnTo>
                <a:close/>
              </a:path>
            </a:pathLst>
          </a:cu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E43BE7-B0BB-8835-93D9-E5E85F18AF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350317"/>
            <a:ext cx="9125045" cy="2935288"/>
          </a:xfrm>
        </p:spPr>
        <p:txBody>
          <a:bodyPr/>
          <a:lstStyle/>
          <a:p>
            <a:r>
              <a:rPr lang="en-US" sz="3600" dirty="0"/>
              <a:t>PagerDuty – Alerting, escalation, real-time incident response</a:t>
            </a:r>
          </a:p>
          <a:p>
            <a:r>
              <a:rPr lang="en-US" sz="3600" dirty="0" err="1"/>
              <a:t>Opsgenie</a:t>
            </a:r>
            <a:r>
              <a:rPr lang="en-US" sz="3600" dirty="0"/>
              <a:t> – Flexible on-call scheduling and notifications</a:t>
            </a:r>
          </a:p>
          <a:p>
            <a:r>
              <a:rPr lang="en-US" sz="3600" dirty="0" err="1"/>
              <a:t>VictorOps</a:t>
            </a:r>
            <a:r>
              <a:rPr lang="en-US" sz="3600" dirty="0"/>
              <a:t> (Splunk On-Call) – Collaboration and alert timeline view</a:t>
            </a:r>
          </a:p>
        </p:txBody>
      </p:sp>
    </p:spTree>
    <p:extLst>
      <p:ext uri="{BB962C8B-B14F-4D97-AF65-F5344CB8AC3E}">
        <p14:creationId xmlns:p14="http://schemas.microsoft.com/office/powerpoint/2010/main" val="63702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EE6BB-B840-3284-E5FD-C2737E9BD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8" descr="close up of bridge">
            <a:extLst>
              <a:ext uri="{FF2B5EF4-FFF2-40B4-BE49-F238E27FC236}">
                <a16:creationId xmlns:a16="http://schemas.microsoft.com/office/drawing/2014/main" id="{D00D4296-4738-0338-7612-2AA45F217B2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/>
          <a:srcRect l="17082" r="17082"/>
          <a:stretch/>
        </p:blipFill>
        <p:spPr>
          <a:xfrm>
            <a:off x="8052178" y="0"/>
            <a:ext cx="3575713" cy="3620781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83222E-E841-65EC-3C05-8236F7EA6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94" y="225184"/>
            <a:ext cx="10503469" cy="830997"/>
          </a:xfrm>
        </p:spPr>
        <p:txBody>
          <a:bodyPr/>
          <a:lstStyle/>
          <a:p>
            <a:r>
              <a:rPr lang="en-US" dirty="0"/>
              <a:t>Conclusion &amp; Recommendations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264FEF-1716-49A9-8E5C-E6FABBC45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08" y="1529538"/>
            <a:ext cx="9437426" cy="303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57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39C464-546F-E5B9-7CDA-4BFA113BB0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1" y="2042790"/>
            <a:ext cx="4143374" cy="340266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DevOps Handbook, 2nd Edition</a:t>
            </a:r>
          </a:p>
          <a:p>
            <a:r>
              <a:rPr lang="en-US" dirty="0"/>
              <a:t>By Gene Kim, Jez Humble, Patrick Debois, John Willis, Nicole Forsgren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Google SRE Team. (2020). </a:t>
            </a:r>
            <a:r>
              <a:rPr lang="en-US" i="1" dirty="0"/>
              <a:t>Site Reliability Engineering</a:t>
            </a:r>
            <a:r>
              <a:rPr lang="en-US" dirty="0"/>
              <a:t>. O'Reilly Media. </a:t>
            </a:r>
            <a:r>
              <a:rPr lang="en-US" dirty="0">
                <a:hlinkClick r:id="rId2"/>
              </a:rPr>
              <a:t>https://sre.google/books/</a:t>
            </a:r>
            <a:br>
              <a:rPr lang="en-US" dirty="0"/>
            </a:b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On-Call Rotations and Schedules | Articles | PagerDuty</a:t>
            </a:r>
            <a:br>
              <a:rPr lang="en-US" dirty="0"/>
            </a:b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Picture Placeholder 6" descr="People shaking hands">
            <a:extLst>
              <a:ext uri="{FF2B5EF4-FFF2-40B4-BE49-F238E27FC236}">
                <a16:creationId xmlns:a16="http://schemas.microsoft.com/office/drawing/2014/main" id="{CA9EA3AB-2B73-0EC2-1DAA-6E8248676D3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/>
          <a:srcRect l="17065" r="17065"/>
          <a:stretch>
            <a:fillRect/>
          </a:stretch>
        </p:blipFill>
        <p:spPr/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45E95C4-C6A3-9B8C-6186-82D23C14C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148134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eometric Presentation">
      <a:dk1>
        <a:sysClr val="windowText" lastClr="000000"/>
      </a:dk1>
      <a:lt1>
        <a:sysClr val="window" lastClr="FFFFFF"/>
      </a:lt1>
      <a:dk2>
        <a:srgbClr val="44546A"/>
      </a:dk2>
      <a:lt2>
        <a:srgbClr val="ACCBF9"/>
      </a:lt2>
      <a:accent1>
        <a:srgbClr val="5C83C4"/>
      </a:accent1>
      <a:accent2>
        <a:srgbClr val="2C599D"/>
      </a:accent2>
      <a:accent3>
        <a:srgbClr val="1A3B70"/>
      </a:accent3>
      <a:accent4>
        <a:srgbClr val="FA6F1A"/>
      </a:accent4>
      <a:accent5>
        <a:srgbClr val="11224E"/>
      </a:accent5>
      <a:accent6>
        <a:srgbClr val="9D90A0"/>
      </a:accent6>
      <a:hlink>
        <a:srgbClr val="9454C3"/>
      </a:hlink>
      <a:folHlink>
        <a:srgbClr val="3EBBF0"/>
      </a:folHlink>
    </a:clrScheme>
    <a:fontScheme name="Custom 147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16411253_LW_v2" id="{C590A786-F65F-42F6-9E48-12C78E3C86B3}" vid="{FEE92C9D-6350-4ECD-87A4-004D12BB2B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Geometric presentation</Template>
  <TotalTime>352</TotalTime>
  <Words>421</Words>
  <Application>Microsoft Office PowerPoint</Application>
  <PresentationFormat>Widescreen</PresentationFormat>
  <Paragraphs>48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Wingdings</vt:lpstr>
      <vt:lpstr>Office Theme</vt:lpstr>
      <vt:lpstr>Pager Rotation Duties </vt:lpstr>
      <vt:lpstr>What Are Pager Rotation Duties?</vt:lpstr>
      <vt:lpstr> Prevents engineer burnout and enhances work-life balance.  Ensures timely response to incidents and system stability.  Strengthens operational resilience and customer trust.</vt:lpstr>
      <vt:lpstr>Best Practice #1 – Balanced On-Call Scheduling</vt:lpstr>
      <vt:lpstr>Best Practice #2 – Escalation Policies </vt:lpstr>
      <vt:lpstr>Best Practice #3 – Automated Alerting &amp; Filtering </vt:lpstr>
      <vt:lpstr>Best Practice #4 – Training &amp; Documentation </vt:lpstr>
      <vt:lpstr>Best Practice #5 – Post-Incident Reviews &amp; Continuous Improvement </vt:lpstr>
      <vt:lpstr>Best Practice #6 – Compensation &amp; Incentives </vt:lpstr>
      <vt:lpstr>Tools Commonly Used for Pager Rotation </vt:lpstr>
      <vt:lpstr>Conclusion &amp; Recommendations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Chelsea Hefferin</dc:creator>
  <cp:lastModifiedBy>Chelsea Hefferin</cp:lastModifiedBy>
  <cp:revision>2</cp:revision>
  <dcterms:created xsi:type="dcterms:W3CDTF">2025-04-27T20:54:15Z</dcterms:created>
  <dcterms:modified xsi:type="dcterms:W3CDTF">2025-04-28T02:46:44Z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