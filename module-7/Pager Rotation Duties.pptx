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4" r:id="rId5"/>
    <p:sldId id="315" r:id="rId6"/>
    <p:sldId id="326" r:id="rId7"/>
    <p:sldId id="310" r:id="rId8"/>
    <p:sldId id="311" r:id="rId9"/>
    <p:sldId id="327" r:id="rId10"/>
    <p:sldId id="328" r:id="rId11"/>
    <p:sldId id="329" r:id="rId12"/>
    <p:sldId id="330" r:id="rId13"/>
    <p:sldId id="331" r:id="rId14"/>
    <p:sldId id="334" r:id="rId15"/>
    <p:sldId id="333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5033" autoAdjust="0"/>
  </p:normalViewPr>
  <p:slideViewPr>
    <p:cSldViewPr snapToGrid="0">
      <p:cViewPr>
        <p:scale>
          <a:sx n="70" d="100"/>
          <a:sy n="70" d="100"/>
        </p:scale>
        <p:origin x="48" y="51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4/27/2025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4/27/2025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?adgroup_id=150878489188&amp;campaign_id=18599924057&amp;cq_cmp=18599924057&amp;cq_con=150878489188&amp;cq_med=&amp;cq_net=g&amp;cq_plac=&amp;cq_plt=gp&amp;cq_src=google_ads&amp;cq_term=on%20call%20management&amp;creative_id=628144644220&amp;gad_source=1&amp;gbraid=0AAAAADrfZWPk-8mGwh8KeUYcN2DXjrmDe&amp;gclid=CjwKCAjwq7fABhB2EiwAwk-YbNIS9UmlvUkVd48GfsWlFLwf7MlDAPJRCaa0dzDaBTVdiN0wObZcPxoCSZ4QAvD_BwE&amp;utm_campaign=grow-revenue_demand&amp;utm_content=nam_lg_on-call-management_kwd-299582208469&amp;utm_creative_format=&amp;utm_marketing_tactic=t-i&amp;utm_medium=cpc&amp;utm_source=google&amp;utm_source_platform=gads&amp;utm_term=on%20call%20management" TargetMode="External"/><Relationship Id="rId2" Type="http://schemas.openxmlformats.org/officeDocument/2006/relationships/hyperlink" Target="https://sre.google/books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Pager Rotation Duties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DevOps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Chelsea Hefferin</a:t>
            </a:r>
          </a:p>
          <a:p>
            <a:r>
              <a:rPr lang="en-US" dirty="0"/>
              <a:t>27</a:t>
            </a:r>
            <a:r>
              <a:rPr lang="en-US" baseline="30000" dirty="0"/>
              <a:t>th</a:t>
            </a:r>
            <a:r>
              <a:rPr lang="en-US" dirty="0"/>
              <a:t> of April 2025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8558663" cy="830997"/>
          </a:xfrm>
        </p:spPr>
        <p:txBody>
          <a:bodyPr/>
          <a:lstStyle/>
          <a:p>
            <a:r>
              <a:rPr lang="en-US" dirty="0"/>
              <a:t>What Are Pager Rotation Duties?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Pager rotation refers to the system where engineers take turns being on-call to respond to critical incidents.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Objective: Minimize downtime, ensure quick incident resolution, and improve system reliability.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fosters collaboration between development and operations, promoting shared accountability.</a:t>
            </a:r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Reflection of city at dusk on mirrored building">
            <a:extLst>
              <a:ext uri="{FF2B5EF4-FFF2-40B4-BE49-F238E27FC236}">
                <a16:creationId xmlns:a16="http://schemas.microsoft.com/office/drawing/2014/main" id="{80F641B8-D4CB-4B34-AF57-A526981DE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0000"/>
          </a:blip>
          <a:srcRect t="6692" b="6692"/>
          <a:stretch/>
        </p:blipFill>
        <p:spPr>
          <a:xfrm>
            <a:off x="-5606" y="0"/>
            <a:ext cx="12192000" cy="6858000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8461F53-81E4-4F48-8B4D-56B6013B1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17459" y="685800"/>
            <a:ext cx="5757081" cy="5742296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CA4A65-0235-4CB2-B09E-4E2D8F22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095" y="1727590"/>
            <a:ext cx="4623525" cy="3402819"/>
          </a:xfrm>
        </p:spPr>
        <p:txBody>
          <a:bodyPr/>
          <a:lstStyle/>
          <a:p>
            <a:pPr algn="l">
              <a:buClr>
                <a:srgbClr val="FFC000"/>
              </a:buClr>
            </a:pPr>
            <a:br>
              <a:rPr lang="en-US" dirty="0"/>
            </a:br>
            <a:r>
              <a:rPr lang="en-US" dirty="0"/>
              <a:t>Prevents engineer burnout and enhances work-life balance.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Ensures timely response to incidents and system stability.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Strengthens operational resilience and customer trust.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3AD71F-DA66-44DD-B812-447839E5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F27D1-2BD8-40D7-A92B-834F8A4F7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0F2B13-F976-4C2D-883C-E495CDF04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DE5458-0766-49A5-8982-EF9557A6BB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7926" y="1714167"/>
            <a:ext cx="3924934" cy="490538"/>
          </a:xfrm>
        </p:spPr>
        <p:txBody>
          <a:bodyPr/>
          <a:lstStyle/>
          <a:p>
            <a:pPr>
              <a:buNone/>
            </a:pPr>
            <a:r>
              <a:rPr lang="en-US" sz="2800" b="1" dirty="0"/>
              <a:t>Importance of Effective On-Call Management</a:t>
            </a:r>
          </a:p>
        </p:txBody>
      </p:sp>
    </p:spTree>
    <p:extLst>
      <p:ext uri="{BB962C8B-B14F-4D97-AF65-F5344CB8AC3E}">
        <p14:creationId xmlns:p14="http://schemas.microsoft.com/office/powerpoint/2010/main" val="410139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1108478"/>
            <a:ext cx="2930525" cy="1560513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982E48-3FB5-4F2E-AE87-E5E083865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399" y="2141259"/>
            <a:ext cx="10134980" cy="3488442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Distribute shifts fairly to prevent overloading specific individuals.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Rotate duties regularly so everyone shares the responsibility.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Consider time zones and working hours for global teams.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7E6D6-C63D-4A7C-B1F1-1E8117B2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9589069" cy="830997"/>
          </a:xfrm>
        </p:spPr>
        <p:txBody>
          <a:bodyPr/>
          <a:lstStyle/>
          <a:p>
            <a:r>
              <a:rPr lang="en-US" dirty="0"/>
              <a:t>Best Practice #1 – Balanced On-Call Scheduling</a:t>
            </a:r>
          </a:p>
        </p:txBody>
      </p:sp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Best Practice #2 – Escalation Policies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ED82-F4F3-044A-B30A-FD32531BD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1961356"/>
            <a:ext cx="9125045" cy="2935288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Define clear pathways for escalating incidents based on severity.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Ensure backup support if the primary responder is unavailable.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Use automated escalation to notify the right personnel quickly.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60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EC09F-4C92-EE7D-85E9-7BBA4AA4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A7330F9E-A0FC-63C8-58C7-FB94B7E8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Best Practice #3 – Automated Alerting &amp; Filtering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A16C3340-692F-DA85-607C-5CCD7692160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A35BB-F819-7B24-C72F-A6F209322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473147"/>
            <a:ext cx="9125045" cy="29352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Use automation tools to filter out non-critical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Reduce alert fatigue by adjusting thresholds intelligently.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Ensure alerts provide actionable insights to responders.</a:t>
            </a:r>
          </a:p>
        </p:txBody>
      </p:sp>
    </p:spTree>
    <p:extLst>
      <p:ext uri="{BB962C8B-B14F-4D97-AF65-F5344CB8AC3E}">
        <p14:creationId xmlns:p14="http://schemas.microsoft.com/office/powerpoint/2010/main" val="6018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CF9D-C6C8-FD07-9DC6-F3BDFC07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FEC99272-F90D-F8C9-6120-7B710F35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Best Practice #4 – Training &amp; Documentation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ABD46CA7-2E60-53C8-147D-C66686F70CD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9F260-FD2D-F9BE-B5E0-6988DABBF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473147"/>
            <a:ext cx="9125045" cy="29352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Provide comprehensive training on incident response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Maintain detailed runbooks to guide engineers through common scenarios.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Conduct regular knowledge-sharing sessions to improve preparedness.</a:t>
            </a:r>
          </a:p>
        </p:txBody>
      </p:sp>
    </p:spTree>
    <p:extLst>
      <p:ext uri="{BB962C8B-B14F-4D97-AF65-F5344CB8AC3E}">
        <p14:creationId xmlns:p14="http://schemas.microsoft.com/office/powerpoint/2010/main" val="39382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B359-63B3-EA32-A0F3-B3E3CDB6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566D680-444F-48DA-8B8C-B94D3D87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Best Practice #5 – Post-Incident Reviews &amp; Continuous Improvement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15A0E84D-B11A-B00A-A338-D9946E100BC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69DA6-AD3D-CE71-CD15-2FC2F40601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841637"/>
            <a:ext cx="9125045" cy="29352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Conduct retrospectives after major incidents to analyze root causes.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Develop preventive measures to avoid similar issues in the future.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Encourage a blameless culture that focuses on learning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364136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3107-19E4-C0E2-C30F-A7053D47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3BB9FEE9-6A10-1D3C-4CE2-B077D6A8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Best Practice #6 – Compensation &amp; Incentives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FEDE14DB-B3D2-9785-93E1-098DFDDCDFD4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E1C77-8557-8B96-A622-E7D8412333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350317"/>
            <a:ext cx="9125045" cy="29352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Offer compensation or extra time off for on-call responsibilities.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Recognize and reward engineers for successful incident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Encourage feedback on improving pager rotation practices.</a:t>
            </a:r>
          </a:p>
        </p:txBody>
      </p:sp>
    </p:spTree>
    <p:extLst>
      <p:ext uri="{BB962C8B-B14F-4D97-AF65-F5344CB8AC3E}">
        <p14:creationId xmlns:p14="http://schemas.microsoft.com/office/powerpoint/2010/main" val="257706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711E-BD57-8800-75C3-D88D83B0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C9BF41DB-ABAB-1111-061A-37F38A437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Best Practice #6 – Compensation &amp; Incentives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B0C94F41-19BF-1AFA-AF09-22A15DA84EAD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BADC1-0A1C-9524-1D2C-3A0FAD151E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350317"/>
            <a:ext cx="9125045" cy="2935288"/>
          </a:xfrm>
        </p:spPr>
        <p:txBody>
          <a:bodyPr/>
          <a:lstStyle/>
          <a:p>
            <a:r>
              <a:rPr lang="en-US" sz="2800" dirty="0"/>
              <a:t>Implementing best practices improves reliability and team satisfaction.</a:t>
            </a:r>
          </a:p>
          <a:p>
            <a:r>
              <a:rPr lang="en-US" sz="2800" dirty="0"/>
              <a:t>Adopt fair scheduling, automate alerts, train responders, and continuously refine the process.</a:t>
            </a:r>
          </a:p>
          <a:p>
            <a:r>
              <a:rPr lang="en-US" sz="2800" dirty="0"/>
              <a:t>Ensure your team follows structured on-call management for operational success.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90633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13E1-EF7E-5BB6-04DF-ED5C4F3C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90A4F5DC-8583-CECB-9FAE-14C60A28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8620078" cy="830997"/>
          </a:xfrm>
        </p:spPr>
        <p:txBody>
          <a:bodyPr/>
          <a:lstStyle/>
          <a:p>
            <a:r>
              <a:rPr lang="en-US" dirty="0"/>
              <a:t>Tools Commonly Used for Pager Rotation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DAE03B87-032A-525F-149F-7D6A834B947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43BE7-B0BB-8835-93D9-E5E85F18A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350317"/>
            <a:ext cx="9125045" cy="2935288"/>
          </a:xfrm>
        </p:spPr>
        <p:txBody>
          <a:bodyPr/>
          <a:lstStyle/>
          <a:p>
            <a:r>
              <a:rPr lang="en-US" sz="3600" dirty="0"/>
              <a:t>PagerDuty – Alerting, escalation, real-time incident response</a:t>
            </a:r>
          </a:p>
          <a:p>
            <a:r>
              <a:rPr lang="en-US" sz="3600" dirty="0" err="1"/>
              <a:t>Opsgenie</a:t>
            </a:r>
            <a:r>
              <a:rPr lang="en-US" sz="3600" dirty="0"/>
              <a:t> – Flexible on-call scheduling and notifications</a:t>
            </a:r>
          </a:p>
          <a:p>
            <a:r>
              <a:rPr lang="en-US" sz="3600" dirty="0" err="1"/>
              <a:t>VictorOps</a:t>
            </a:r>
            <a:r>
              <a:rPr lang="en-US" sz="3600" dirty="0"/>
              <a:t> (Splunk On-Call) – Collaboration and alert timeline view</a:t>
            </a:r>
          </a:p>
        </p:txBody>
      </p:sp>
    </p:spTree>
    <p:extLst>
      <p:ext uri="{BB962C8B-B14F-4D97-AF65-F5344CB8AC3E}">
        <p14:creationId xmlns:p14="http://schemas.microsoft.com/office/powerpoint/2010/main" val="63702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EE6BB-B840-3284-E5FD-C2737E9B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 descr="close up of bridge">
            <a:extLst>
              <a:ext uri="{FF2B5EF4-FFF2-40B4-BE49-F238E27FC236}">
                <a16:creationId xmlns:a16="http://schemas.microsoft.com/office/drawing/2014/main" id="{D00D4296-4738-0338-7612-2AA45F217B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17082" r="17082"/>
          <a:stretch/>
        </p:blipFill>
        <p:spPr>
          <a:xfrm>
            <a:off x="8052178" y="0"/>
            <a:ext cx="3575713" cy="362078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83222E-E841-65EC-3C05-8236F7EA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94" y="225184"/>
            <a:ext cx="10503469" cy="830997"/>
          </a:xfrm>
        </p:spPr>
        <p:txBody>
          <a:bodyPr/>
          <a:lstStyle/>
          <a:p>
            <a:r>
              <a:rPr lang="en-US" dirty="0"/>
              <a:t>Conclusion &amp; Recommendations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64FEF-1716-49A9-8E5C-E6FABBC45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94" y="2013322"/>
            <a:ext cx="9437426" cy="303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57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39C464-546F-E5B9-7CDA-4BFA113BB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340266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DevOps Handbook, 2nd Edition</a:t>
            </a:r>
          </a:p>
          <a:p>
            <a:r>
              <a:rPr lang="en-US" dirty="0"/>
              <a:t>By Gene Kim, Jez Humble, Patrick Debois, John Willis, Nicole Forsgren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Google SRE Team. (2020). </a:t>
            </a:r>
            <a:r>
              <a:rPr lang="en-US" i="1" dirty="0"/>
              <a:t>Site Reliability Engineering</a:t>
            </a:r>
            <a:r>
              <a:rPr lang="en-US" dirty="0"/>
              <a:t>. O'Reilly Media. </a:t>
            </a:r>
            <a:r>
              <a:rPr lang="en-US" dirty="0">
                <a:hlinkClick r:id="rId2"/>
              </a:rPr>
              <a:t>https://sre.google/books/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On-Call Rotations and Schedules | Articles | PagerDuty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Placeholder 6" descr="People shaking hands">
            <a:extLst>
              <a:ext uri="{FF2B5EF4-FFF2-40B4-BE49-F238E27FC236}">
                <a16:creationId xmlns:a16="http://schemas.microsoft.com/office/drawing/2014/main" id="{CA9EA3AB-2B73-0EC2-1DAA-6E8248676D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17065" r="17065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45E95C4-C6A3-9B8C-6186-82D23C14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148134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343</TotalTime>
  <Words>458</Words>
  <Application>Microsoft Office PowerPoint</Application>
  <PresentationFormat>Widescreen</PresentationFormat>
  <Paragraphs>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Office Theme</vt:lpstr>
      <vt:lpstr>Pager Rotation Duties </vt:lpstr>
      <vt:lpstr>What Are Pager Rotation Duties?</vt:lpstr>
      <vt:lpstr> Prevents engineer burnout and enhances work-life balance.  Ensures timely response to incidents and system stability.  Strengthens operational resilience and customer trust.</vt:lpstr>
      <vt:lpstr>Best Practice #1 – Balanced On-Call Scheduling</vt:lpstr>
      <vt:lpstr>Best Practice #2 – Escalation Policies </vt:lpstr>
      <vt:lpstr>Best Practice #3 – Automated Alerting &amp; Filtering </vt:lpstr>
      <vt:lpstr>Best Practice #4 – Training &amp; Documentation </vt:lpstr>
      <vt:lpstr>Best Practice #5 – Post-Incident Reviews &amp; Continuous Improvement </vt:lpstr>
      <vt:lpstr>Best Practice #6 – Compensation &amp; Incentives </vt:lpstr>
      <vt:lpstr>Best Practice #6 – Compensation &amp; Incentives </vt:lpstr>
      <vt:lpstr>Tools Commonly Used for Pager Rotation </vt:lpstr>
      <vt:lpstr>Conclusion &amp; Recommendations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Chelsea Hefferin</dc:creator>
  <cp:lastModifiedBy>Chelsea Hefferin</cp:lastModifiedBy>
  <cp:revision>1</cp:revision>
  <dcterms:created xsi:type="dcterms:W3CDTF">2025-04-27T20:54:15Z</dcterms:created>
  <dcterms:modified xsi:type="dcterms:W3CDTF">2025-04-28T02:37:49Z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