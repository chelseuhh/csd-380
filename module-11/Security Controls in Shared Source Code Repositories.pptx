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314" r:id="rId5"/>
    <p:sldId id="315" r:id="rId6"/>
    <p:sldId id="318" r:id="rId7"/>
    <p:sldId id="320" r:id="rId8"/>
    <p:sldId id="321" r:id="rId9"/>
    <p:sldId id="323" r:id="rId10"/>
    <p:sldId id="324" r:id="rId11"/>
    <p:sldId id="325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/>
          <a:lstStyle/>
          <a:p>
            <a:r>
              <a:rPr lang="en-US" dirty="0"/>
              <a:t>Security Controls in Shared Source Code Repositories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A64A33-AB2F-AD0F-95D5-01D24E557B9A}"/>
              </a:ext>
            </a:extLst>
          </p:cNvPr>
          <p:cNvSpPr txBox="1">
            <a:spLocks/>
          </p:cNvSpPr>
          <p:nvPr/>
        </p:nvSpPr>
        <p:spPr>
          <a:xfrm>
            <a:off x="6096000" y="5974081"/>
            <a:ext cx="5674360" cy="3840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Chelsea Hefferin 05/11/2025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• Importance of Code Repositories:</a:t>
            </a:r>
          </a:p>
          <a:p>
            <a:r>
              <a:rPr lang="en-US" dirty="0"/>
              <a:t>  - Central hubs for collaborative software development</a:t>
            </a:r>
          </a:p>
          <a:p>
            <a:r>
              <a:rPr lang="en-US" dirty="0"/>
              <a:t>  - Contain sensitive information and intellectual property</a:t>
            </a:r>
          </a:p>
          <a:p>
            <a:r>
              <a:rPr lang="en-US" dirty="0"/>
              <a:t>• Security Risks:</a:t>
            </a:r>
          </a:p>
          <a:p>
            <a:r>
              <a:rPr lang="en-US" dirty="0"/>
              <a:t>  - Unauthorized access, code tampering, secrets exposure,      malware injection</a:t>
            </a:r>
          </a:p>
          <a:p>
            <a:r>
              <a:rPr lang="en-US" dirty="0"/>
              <a:t>• Objective:</a:t>
            </a:r>
          </a:p>
          <a:p>
            <a:r>
              <a:rPr lang="en-US" dirty="0"/>
              <a:t>  - Implement robust security controls to protect code integrity and confidentiality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Measures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9720073" cy="415575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Role-Based Access Control (RBAC): </a:t>
            </a:r>
            <a:r>
              <a:rPr lang="en-US" dirty="0" err="1"/>
              <a:t>ssign</a:t>
            </a:r>
            <a:r>
              <a:rPr lang="en-US" dirty="0"/>
              <a:t> user roles strategically (Admin, Developer, Read-Only). Apply least privilege principles to minimize security risks.</a:t>
            </a:r>
          </a:p>
          <a:p>
            <a:pPr>
              <a:lnSpc>
                <a:spcPct val="200000"/>
              </a:lnSpc>
            </a:pPr>
            <a:r>
              <a:rPr lang="en-US" dirty="0"/>
              <a:t>Two-Factor Authentication (2FA): Require multi-factor authentication for all accounts to prevent unauthorized access.</a:t>
            </a:r>
          </a:p>
          <a:p>
            <a:pPr>
              <a:lnSpc>
                <a:spcPct val="200000"/>
              </a:lnSpc>
            </a:pPr>
            <a:r>
              <a:rPr lang="en-US" dirty="0"/>
              <a:t>Regular Access Reviews:  Conduct scheduled audits to verify users have appropriate permissions and remove inactive accounts.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Protecting Sensitive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9509761" cy="39304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Avoid Hardcoding Secrets: Never store credentials (e.g., API keys, passwords) directly in source code.</a:t>
            </a:r>
          </a:p>
          <a:p>
            <a:pPr>
              <a:lnSpc>
                <a:spcPct val="150000"/>
              </a:lnSpc>
            </a:pPr>
            <a:r>
              <a:rPr lang="en-US" dirty="0"/>
              <a:t>Use Secret Management Tools: Secure sensitive data using tools like </a:t>
            </a:r>
            <a:r>
              <a:rPr lang="en-US" dirty="0" err="1"/>
              <a:t>HashiCorp</a:t>
            </a:r>
            <a:r>
              <a:rPr lang="en-US" dirty="0"/>
              <a:t> Vault, AWS Secrets Manager, or Azure Key Vault.</a:t>
            </a:r>
          </a:p>
          <a:p>
            <a:pPr>
              <a:lnSpc>
                <a:spcPct val="150000"/>
              </a:lnSpc>
            </a:pPr>
            <a:r>
              <a:rPr lang="en-US" dirty="0"/>
              <a:t>Enable Secret Scanning: Utilize GitHub’s secret scanning feature to automatically detect and alert on exposed secrets.</a:t>
            </a:r>
          </a:p>
          <a:p>
            <a:r>
              <a:rPr lang="en-US" dirty="0"/>
              <a:t>Why Secret Scanning is Crucial: Prevents accidental exposure of sensitive data in repositories. Helps mitigate security breaches before they happen. Protects against credential theft by identifying leaks early.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Code Integrity and Review Processes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398" y="1982142"/>
            <a:ext cx="9966962" cy="374718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Mandatory Code Reviews: Developers review each other's code to catch security flaws early, preventing vulnerabilities before they reach production.</a:t>
            </a:r>
          </a:p>
          <a:p>
            <a:pPr>
              <a:lnSpc>
                <a:spcPct val="200000"/>
              </a:lnSpc>
            </a:pPr>
            <a:r>
              <a:rPr lang="en-US" dirty="0"/>
              <a:t>Signed Commits: se GPG keys to cryptographically verify commit authorship, ensuring code integrity and preventing unauthorized changes.</a:t>
            </a:r>
          </a:p>
          <a:p>
            <a:pPr>
              <a:lnSpc>
                <a:spcPct val="200000"/>
              </a:lnSpc>
            </a:pPr>
            <a:r>
              <a:rPr lang="en-US" dirty="0"/>
              <a:t>Branch Protection Rules: Require pull requests before merging, enforcing peer review and approval.</a:t>
            </a:r>
          </a:p>
          <a:p>
            <a:pPr>
              <a:lnSpc>
                <a:spcPct val="200000"/>
              </a:lnSpc>
            </a:pPr>
            <a:r>
              <a:rPr lang="en-US" dirty="0"/>
              <a:t>GitHub and GitLab allow administrators to mandate branch protection rules, ensuring only reviewed changes are merged.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/>
          <a:lstStyle/>
          <a:p>
            <a:r>
              <a:rPr lang="en-US" dirty="0"/>
              <a:t>Continuous Monitoring and Scanning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391314"/>
            <a:ext cx="10195561" cy="476259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Static Application Security Testing (SAST) – Analyzes source code for vulnerabilities before runtime to detect security flaws early. Example tool: SonarQube (scans code for bugs, vulnerabilities, and code smells). Best for: Finding hardcoded credentials, insecure functions, and poor coding practices.</a:t>
            </a:r>
          </a:p>
          <a:p>
            <a:pPr>
              <a:lnSpc>
                <a:spcPct val="200000"/>
              </a:lnSpc>
            </a:pPr>
            <a:r>
              <a:rPr lang="en-US" dirty="0"/>
              <a:t>Dynamic Application Security Testing (DAST) – Simulates attacks on a running application to uncover runtime security vulnerabilities. Example tool: </a:t>
            </a:r>
            <a:r>
              <a:rPr lang="en-US" i="1" dirty="0"/>
              <a:t>OWASP ZAP</a:t>
            </a:r>
            <a:r>
              <a:rPr lang="en-US" dirty="0"/>
              <a:t> (actively scans live applications for weaknesses). Best for: Identifying injection flaws, authentication bypass, and server misconfigurations.</a:t>
            </a:r>
          </a:p>
          <a:p>
            <a:pPr>
              <a:lnSpc>
                <a:spcPct val="200000"/>
              </a:lnSpc>
            </a:pPr>
            <a:r>
              <a:rPr lang="en-US" dirty="0"/>
              <a:t>Dependency Scanning – Evaluates third-party libraries for vulnerabilities to prevent security breaches. Example tools: </a:t>
            </a:r>
            <a:r>
              <a:rPr lang="en-US" i="1" dirty="0" err="1"/>
              <a:t>Snyk</a:t>
            </a:r>
            <a:r>
              <a:rPr lang="en-US" i="1" dirty="0"/>
              <a:t>, </a:t>
            </a:r>
            <a:r>
              <a:rPr lang="en-US" i="1" dirty="0" err="1"/>
              <a:t>Dependabot</a:t>
            </a:r>
            <a:r>
              <a:rPr lang="en-US" dirty="0"/>
              <a:t> (automatically check package dependencies for known exploits). Best for: Protecting against malicious or outdated third-party components.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/>
          <a:lstStyle/>
          <a:p>
            <a:r>
              <a:rPr lang="en-US" dirty="0"/>
              <a:t>Conclusion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574193"/>
            <a:ext cx="9738362" cy="44015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• Implement Layered Security – Combine multiple security measures (RBAC, MFA, secret scanning) for comprehensive protection.</a:t>
            </a:r>
          </a:p>
          <a:p>
            <a:pPr>
              <a:lnSpc>
                <a:spcPct val="200000"/>
              </a:lnSpc>
            </a:pPr>
            <a:r>
              <a:rPr lang="en-US" dirty="0"/>
              <a:t>•  Educate Development Teams – Conduct regular secure coding training to instill best practices and reduce vulnerabilities.</a:t>
            </a:r>
          </a:p>
          <a:p>
            <a:pPr>
              <a:lnSpc>
                <a:spcPct val="200000"/>
              </a:lnSpc>
            </a:pPr>
            <a:r>
              <a:rPr lang="en-US" dirty="0"/>
              <a:t>•  Regularly Update Security Policies – Continuously refine security protocols to stay ahead of emerging threats and attacks.</a:t>
            </a:r>
          </a:p>
          <a:p>
            <a:pPr>
              <a:lnSpc>
                <a:spcPct val="200000"/>
              </a:lnSpc>
            </a:pPr>
            <a:r>
              <a:rPr lang="en-US" dirty="0"/>
              <a:t>• Final Thought: Security is not a one-time task—it’s an ongoing commitment to protecting software integrity.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7AB7-EF88-56A9-CCE5-33D0AE225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9B5F-3C6E-FD60-7012-BACA7A6D7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5133CE-9358-6AA5-B968-DE615737CC70}"/>
              </a:ext>
            </a:extLst>
          </p:cNvPr>
          <p:cNvSpPr txBox="1">
            <a:spLocks/>
          </p:cNvSpPr>
          <p:nvPr/>
        </p:nvSpPr>
        <p:spPr>
          <a:xfrm>
            <a:off x="914400" y="1794242"/>
            <a:ext cx="9738362" cy="440152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/>
              <a:t>DigiCert. (n.d.). What is Code </a:t>
            </a:r>
            <a:r>
              <a:rPr lang="en-US" dirty="0" err="1"/>
              <a:t>Signing?https</a:t>
            </a:r>
            <a:r>
              <a:rPr lang="en-US" dirty="0"/>
              <a:t>://www.digicert.com/faq/code-signing-trust/what-is-code-signing</a:t>
            </a:r>
          </a:p>
          <a:p>
            <a:pPr>
              <a:lnSpc>
                <a:spcPct val="200000"/>
              </a:lnSpc>
            </a:pPr>
            <a:r>
              <a:rPr lang="en-US" dirty="0"/>
              <a:t>Encryption Consulting. (n.d.). What is Code </a:t>
            </a:r>
            <a:r>
              <a:rPr lang="en-US" dirty="0" err="1"/>
              <a:t>Signing?https</a:t>
            </a:r>
            <a:r>
              <a:rPr lang="en-US" dirty="0"/>
              <a:t>://www.encryptionconsulting.com/education-center/what-is-code-signing</a:t>
            </a:r>
          </a:p>
          <a:p>
            <a:pPr>
              <a:lnSpc>
                <a:spcPct val="200000"/>
              </a:lnSpc>
            </a:pPr>
            <a:r>
              <a:rPr lang="en-US" dirty="0"/>
              <a:t>GitHub Docs. (n.d.). </a:t>
            </a:r>
            <a:r>
              <a:rPr lang="en-US" dirty="0" err="1"/>
              <a:t>Quickstart</a:t>
            </a:r>
            <a:r>
              <a:rPr lang="en-US" dirty="0"/>
              <a:t> for Securing Your </a:t>
            </a:r>
            <a:r>
              <a:rPr lang="en-US" dirty="0" err="1"/>
              <a:t>Repository.https</a:t>
            </a:r>
            <a:r>
              <a:rPr lang="en-US" dirty="0"/>
              <a:t>://docs.github.com/</a:t>
            </a:r>
            <a:r>
              <a:rPr lang="en-US" dirty="0" err="1"/>
              <a:t>en</a:t>
            </a:r>
            <a:r>
              <a:rPr lang="en-US" dirty="0"/>
              <a:t>/code-security/getting-started/</a:t>
            </a:r>
            <a:r>
              <a:rPr lang="en-US" dirty="0" err="1"/>
              <a:t>quickstart</a:t>
            </a:r>
            <a:r>
              <a:rPr lang="en-US" dirty="0"/>
              <a:t>-for-securing-your-repository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Snyk</a:t>
            </a:r>
            <a:r>
              <a:rPr lang="en-US" dirty="0"/>
              <a:t>. (n.d.). Securing Source Code </a:t>
            </a:r>
            <a:r>
              <a:rPr lang="en-US" dirty="0" err="1"/>
              <a:t>Repositories.https</a:t>
            </a:r>
            <a:r>
              <a:rPr lang="en-US" dirty="0"/>
              <a:t>://snyk.io/articles/securing-source-code-repositories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Theodo</a:t>
            </a:r>
            <a:r>
              <a:rPr lang="en-US" dirty="0"/>
              <a:t>. (n.d.). Best Practices to Secure </a:t>
            </a:r>
            <a:r>
              <a:rPr lang="en-US" dirty="0" err="1"/>
              <a:t>Repositories.https</a:t>
            </a:r>
            <a:r>
              <a:rPr lang="en-US" dirty="0"/>
              <a:t>://security.theodo.com/</a:t>
            </a:r>
            <a:r>
              <a:rPr lang="en-US" dirty="0" err="1"/>
              <a:t>en</a:t>
            </a:r>
            <a:r>
              <a:rPr lang="en-US" dirty="0"/>
              <a:t>/blog/secure-repositories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Assembla</a:t>
            </a:r>
            <a:r>
              <a:rPr lang="en-US" dirty="0"/>
              <a:t>. (n.d.). Source Code Security Best </a:t>
            </a:r>
            <a:r>
              <a:rPr lang="en-US" dirty="0" err="1"/>
              <a:t>Practices.https</a:t>
            </a:r>
            <a:r>
              <a:rPr lang="en-US" dirty="0"/>
              <a:t>://get.assembla.com/blog/source-code-security</a:t>
            </a:r>
          </a:p>
        </p:txBody>
      </p:sp>
    </p:spTree>
    <p:extLst>
      <p:ext uri="{BB962C8B-B14F-4D97-AF65-F5344CB8AC3E}">
        <p14:creationId xmlns:p14="http://schemas.microsoft.com/office/powerpoint/2010/main" val="1520042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{9BAA4E43-0F52-4CEA-9742-A643A4AC64C3}tf22318419_win32</Template>
  <TotalTime>98</TotalTime>
  <Words>697</Words>
  <Application>Microsoft Office PowerPoint</Application>
  <PresentationFormat>Widescreen</PresentationFormat>
  <Paragraphs>57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Security Controls in Shared Source Code Repositories</vt:lpstr>
      <vt:lpstr>Introduction</vt:lpstr>
      <vt:lpstr>Access Control Measures</vt:lpstr>
      <vt:lpstr>Protecting Sensitive Information</vt:lpstr>
      <vt:lpstr>Code Integrity and Review Processes</vt:lpstr>
      <vt:lpstr>Continuous Monitoring and Scanning</vt:lpstr>
      <vt:lpstr>Conclusion and Recommendations</vt:lpstr>
      <vt:lpstr>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Chelsea Hefferin</dc:creator>
  <cp:lastModifiedBy>Chelsea Hefferin</cp:lastModifiedBy>
  <cp:revision>4</cp:revision>
  <dcterms:created xsi:type="dcterms:W3CDTF">2025-05-11T23:38:01Z</dcterms:created>
  <dcterms:modified xsi:type="dcterms:W3CDTF">2025-05-12T01:18:06Z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