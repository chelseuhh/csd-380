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281" r:id="rId5"/>
    <p:sldId id="284" r:id="rId6"/>
    <p:sldId id="261" r:id="rId7"/>
    <p:sldId id="279" r:id="rId8"/>
    <p:sldId id="277" r:id="rId9"/>
    <p:sldId id="266" r:id="rId10"/>
    <p:sldId id="293" r:id="rId11"/>
    <p:sldId id="294" r:id="rId12"/>
    <p:sldId id="297" r:id="rId13"/>
    <p:sldId id="295" r:id="rId14"/>
    <p:sldId id="296" r:id="rId15"/>
    <p:sldId id="28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9" autoAdjust="0"/>
    <p:restoredTop sz="94879" autoAdjust="0"/>
  </p:normalViewPr>
  <p:slideViewPr>
    <p:cSldViewPr snapToGrid="0">
      <p:cViewPr varScale="1">
        <p:scale>
          <a:sx n="56" d="100"/>
          <a:sy n="56" d="100"/>
        </p:scale>
        <p:origin x="57" y="351"/>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5/4/2025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5/4/2025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2986387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45ECA-2705-4069-7466-8C2AD2031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A112B-05AA-08CA-437F-8A3A59981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72D68C-9FAC-F433-A38E-F89F818B4B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A8ABC5-B8A0-E0F1-BFC1-9B1B2F05D47A}"/>
              </a:ext>
            </a:extLst>
          </p:cNvPr>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2862817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27F2B-2178-17C5-8039-D601175378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1CC695-5CE3-2A46-F45F-8C0C7BF87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3A948F-CB1C-F295-09FF-0DE4FC76BD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54F7E0-469D-DD0B-2111-530C86E5AA90}"/>
              </a:ext>
            </a:extLst>
          </p:cNvPr>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1235262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68B8B-1D25-1A5A-BFFD-4EB07B97E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B1D97-8A48-EAC9-6DC0-1BCE1667C1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180DF7-8EC6-6910-068D-AD7DA57A4F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EF916D-663F-0A32-745E-8F63927606C4}"/>
              </a:ext>
            </a:extLst>
          </p:cNvPr>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135386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32DAE-82B6-62D8-638E-AEEA8F5CA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10B9D8-A0A7-1F5E-2E66-AAA21A6EA2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F83B6-B06F-6700-294E-E5AF070DBF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60466C-5B70-8E14-0599-6111B00AE7E1}"/>
              </a:ext>
            </a:extLst>
          </p:cNvPr>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2090970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D65FC-51DA-1DA6-F869-29806B1472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1A13DB-34BF-407D-F3CC-BC13F50C5E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567C0-087B-0E91-782D-A92AB61CCD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E87031-6840-5BDA-101A-B79CEED79244}"/>
              </a:ext>
            </a:extLst>
          </p:cNvPr>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3399248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5/4/2025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5/4/2025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5/4/2025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5/4/2025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5/4/2025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5/4/2025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r="-2" b="-2"/>
          <a:stretch/>
        </p:blipFill>
        <p:spPr>
          <a:xfrm>
            <a:off x="20" y="10"/>
            <a:ext cx="12191980" cy="6857990"/>
          </a:xfrm>
          <a:noFill/>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2286000"/>
            <a:ext cx="9144000" cy="2286000"/>
          </a:xfrm>
        </p:spPr>
        <p:txBody>
          <a:bodyPr anchor="ctr">
            <a:normAutofit fontScale="90000"/>
          </a:bodyPr>
          <a:lstStyle/>
          <a:p>
            <a:r>
              <a:rPr lang="en-US" dirty="0">
                <a:solidFill>
                  <a:schemeClr val="tx1">
                    <a:lumMod val="95000"/>
                    <a:lumOff val="5000"/>
                  </a:schemeClr>
                </a:solidFill>
              </a:rPr>
              <a:t>Establishing a Just, Learning Culture</a:t>
            </a:r>
            <a:br>
              <a:rPr lang="en-US" dirty="0">
                <a:solidFill>
                  <a:schemeClr val="tx1">
                    <a:lumMod val="95000"/>
                    <a:lumOff val="5000"/>
                  </a:schemeClr>
                </a:solidFill>
              </a:rPr>
            </a:br>
            <a:br>
              <a:rPr lang="en-US" dirty="0">
                <a:solidFill>
                  <a:schemeClr val="tx1">
                    <a:lumMod val="95000"/>
                    <a:lumOff val="5000"/>
                  </a:schemeClr>
                </a:solidFill>
              </a:rPr>
            </a:br>
            <a:r>
              <a:rPr lang="en-US" dirty="0">
                <a:solidFill>
                  <a:schemeClr val="tx1">
                    <a:lumMod val="95000"/>
                    <a:lumOff val="5000"/>
                  </a:schemeClr>
                </a:solidFill>
              </a:rPr>
              <a:t>Module 9</a:t>
            </a:r>
            <a:br>
              <a:rPr lang="en-US" dirty="0">
                <a:solidFill>
                  <a:schemeClr val="tx1">
                    <a:lumMod val="95000"/>
                    <a:lumOff val="5000"/>
                  </a:schemeClr>
                </a:solidFill>
              </a:rPr>
            </a:br>
            <a:r>
              <a:rPr lang="en-US" dirty="0">
                <a:solidFill>
                  <a:schemeClr val="tx1">
                    <a:lumMod val="95000"/>
                    <a:lumOff val="5000"/>
                  </a:schemeClr>
                </a:solidFill>
              </a:rPr>
              <a:t>Chelsea Hefferin</a:t>
            </a:r>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6562816" y="457200"/>
            <a:ext cx="4837176" cy="1993392"/>
          </a:xfrm>
          <a:noFill/>
        </p:spPr>
        <p:txBody>
          <a:bodyPr anchor="b">
            <a:noAutofit/>
          </a:bodyPr>
          <a:lstStyle/>
          <a:p>
            <a:r>
              <a:rPr lang="en-US" dirty="0"/>
              <a:t>Introduction</a:t>
            </a:r>
          </a:p>
        </p:txBody>
      </p:sp>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a:xfrm>
            <a:off x="-28882" y="0"/>
            <a:ext cx="6115050" cy="6858000"/>
          </a:xfrm>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6562818" y="2752344"/>
            <a:ext cx="4837174" cy="3136392"/>
          </a:xfrm>
          <a:noFill/>
        </p:spPr>
        <p:txBody>
          <a:bodyPr anchor="t">
            <a:normAutofit fontScale="92500" lnSpcReduction="20000"/>
          </a:bodyPr>
          <a:lstStyle/>
          <a:p>
            <a:r>
              <a:rPr lang="en-US" dirty="0"/>
              <a:t>A 'Just Culture' balances accountability with learning. It recognizes human error while promoting transparency, trust, and continuous improvement. Despite its benefits, organizations often face significant barriers to adopting it.</a:t>
            </a:r>
          </a:p>
        </p:txBody>
      </p:sp>
    </p:spTree>
    <p:extLst>
      <p:ext uri="{BB962C8B-B14F-4D97-AF65-F5344CB8AC3E}">
        <p14:creationId xmlns:p14="http://schemas.microsoft.com/office/powerpoint/2010/main" val="167201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5" y="466344"/>
            <a:ext cx="6241651" cy="1710354"/>
          </a:xfrm>
          <a:noFill/>
        </p:spPr>
        <p:txBody>
          <a:bodyPr anchor="ctr"/>
          <a:lstStyle/>
          <a:p>
            <a:r>
              <a:rPr lang="en-US" dirty="0"/>
              <a:t>Cultural Resistance</a:t>
            </a:r>
          </a:p>
        </p:txBody>
      </p:sp>
      <p:pic>
        <p:nvPicPr>
          <p:cNvPr id="20" name="Picture Placeholder 7" descr="A person talking to another person">
            <a:extLst>
              <a:ext uri="{FF2B5EF4-FFF2-40B4-BE49-F238E27FC236}">
                <a16:creationId xmlns:a16="http://schemas.microsoft.com/office/drawing/2014/main" id="{59669B42-CC26-1A2A-1FE7-526E425D0191}"/>
              </a:ext>
            </a:extLst>
          </p:cNvPr>
          <p:cNvPicPr>
            <a:picLocks noGrp="1" noChangeAspect="1"/>
          </p:cNvPicPr>
          <p:nvPr>
            <p:ph type="pic" sz="quarter" idx="10"/>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l="10437" r="10437"/>
          <a:stretch/>
        </p:blipFill>
        <p:spPr>
          <a:xfrm>
            <a:off x="0" y="0"/>
            <a:ext cx="4287838" cy="6858000"/>
          </a:xfrm>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42426" y="2286000"/>
            <a:ext cx="6241650" cy="3474720"/>
          </a:xfrm>
          <a:noFill/>
        </p:spPr>
        <p:txBody>
          <a:bodyPr vert="horz" lIns="91440" tIns="45720" rIns="91440" bIns="45720" rtlCol="0" anchor="t">
            <a:normAutofit/>
          </a:bodyPr>
          <a:lstStyle/>
          <a:p>
            <a:pPr marL="0" indent="0">
              <a:buNone/>
            </a:pPr>
            <a:r>
              <a:rPr lang="en-US" sz="3200" dirty="0"/>
              <a:t>One of the largest challenges is the fear of change. Many organizations are accustomed to blame-based cultures. Shifting to a just culture requires altering long-standing behaviors and leadership mindsets.</a:t>
            </a:r>
          </a:p>
        </p:txBody>
      </p:sp>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838200" y="365760"/>
            <a:ext cx="10515600" cy="1325880"/>
          </a:xfrm>
          <a:noFill/>
        </p:spPr>
        <p:txBody>
          <a:bodyPr anchor="ctr"/>
          <a:lstStyle/>
          <a:p>
            <a:r>
              <a:rPr lang="en-US" dirty="0"/>
              <a:t>Lack of Leadership Support</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quarter" idx="13"/>
          </p:nvPr>
        </p:nvSpPr>
        <p:spPr>
          <a:xfrm>
            <a:off x="1900792" y="1691640"/>
            <a:ext cx="8390416" cy="4137189"/>
          </a:xfrm>
          <a:noFill/>
        </p:spPr>
        <p:txBody>
          <a:bodyPr>
            <a:normAutofit/>
          </a:bodyPr>
          <a:lstStyle/>
          <a:p>
            <a:r>
              <a:rPr lang="en-US" sz="3600" dirty="0"/>
              <a:t>Without visible and consistent support from leadership, efforts to implement a just culture often fail. Leaders must model transparency and learning behaviors to set the tone for the organization.</a:t>
            </a:r>
          </a:p>
        </p:txBody>
      </p:sp>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243159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r>
              <a:rPr lang="en-US" dirty="0"/>
              <a:t>Misunderstanding of Just Culture</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r>
              <a:rPr lang="en-US" sz="3200" dirty="0"/>
              <a:t>Some teams interpret just culture as no accountability at all. In reality, just culture requires distinguishing between honest mistakes, risky behaviors, and reckless </a:t>
            </a:r>
            <a:r>
              <a:rPr lang="en-US" sz="3200" dirty="0" err="1"/>
              <a:t>actionseach</a:t>
            </a:r>
            <a:r>
              <a:rPr lang="en-US" sz="3200" dirty="0"/>
              <a:t> with appropriate responses.</a:t>
            </a: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1649597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38200" y="365760"/>
            <a:ext cx="10515600" cy="1325563"/>
          </a:xfrm>
          <a:noFill/>
        </p:spPr>
        <p:txBody>
          <a:bodyPr anchor="ctr"/>
          <a:lstStyle/>
          <a:p>
            <a:r>
              <a:rPr lang="en-US" dirty="0"/>
              <a:t>Poor Communication &amp; Psychological Safety</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quarter" idx="15"/>
          </p:nvPr>
        </p:nvSpPr>
        <p:spPr>
          <a:xfrm>
            <a:off x="991168" y="1691323"/>
            <a:ext cx="10209663" cy="4113054"/>
          </a:xfrm>
          <a:noFill/>
        </p:spPr>
        <p:txBody>
          <a:bodyPr vert="horz" lIns="91440" tIns="45720" rIns="91440" bIns="45720" rtlCol="0" anchor="t">
            <a:normAutofit/>
          </a:bodyPr>
          <a:lstStyle/>
          <a:p>
            <a:pPr lvl="1" indent="0">
              <a:buNone/>
            </a:pPr>
            <a:r>
              <a:rPr lang="en-US" sz="3200" dirty="0"/>
              <a:t>If employees do not feel safe to report incidents without fear of punishment, true learning cannot happen. Psychological safety is foundational to just culture but can be difficult to establish in fear-driven environments.</a:t>
            </a:r>
          </a:p>
          <a:p>
            <a:pPr lvl="1" indent="0">
              <a:buNone/>
            </a:pPr>
            <a:endParaRPr lang="en-US" dirty="0"/>
          </a:p>
        </p:txBody>
      </p:sp>
      <p:sp>
        <p:nvSpPr>
          <p:cNvPr id="5" name="Rectangle 4">
            <a:extLst>
              <a:ext uri="{FF2B5EF4-FFF2-40B4-BE49-F238E27FC236}">
                <a16:creationId xmlns:a16="http://schemas.microsoft.com/office/drawing/2014/main" id="{3EE39F69-A1C6-AF25-B91E-7EEE8ED9E9D8}"/>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643777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EBD85-476E-67B3-05ED-65FEA9C32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0F481-1172-8A6F-0EB0-352AAA183182}"/>
              </a:ext>
            </a:extLst>
          </p:cNvPr>
          <p:cNvSpPr>
            <a:spLocks noGrp="1"/>
          </p:cNvSpPr>
          <p:nvPr>
            <p:ph type="title"/>
          </p:nvPr>
        </p:nvSpPr>
        <p:spPr>
          <a:xfrm>
            <a:off x="838200" y="365760"/>
            <a:ext cx="10515600" cy="1325563"/>
          </a:xfrm>
          <a:noFill/>
        </p:spPr>
        <p:txBody>
          <a:bodyPr anchor="ctr"/>
          <a:lstStyle/>
          <a:p>
            <a:r>
              <a:rPr lang="en-US" dirty="0"/>
              <a:t>Integration Challenges</a:t>
            </a:r>
          </a:p>
        </p:txBody>
      </p:sp>
      <p:sp>
        <p:nvSpPr>
          <p:cNvPr id="3" name="Content Placeholder 2">
            <a:extLst>
              <a:ext uri="{FF2B5EF4-FFF2-40B4-BE49-F238E27FC236}">
                <a16:creationId xmlns:a16="http://schemas.microsoft.com/office/drawing/2014/main" id="{71A1FFEB-1396-CC79-FBE8-009788FE5D4C}"/>
              </a:ext>
            </a:extLst>
          </p:cNvPr>
          <p:cNvSpPr>
            <a:spLocks noGrp="1"/>
          </p:cNvSpPr>
          <p:nvPr>
            <p:ph sz="quarter" idx="15"/>
          </p:nvPr>
        </p:nvSpPr>
        <p:spPr>
          <a:xfrm>
            <a:off x="991168" y="1691323"/>
            <a:ext cx="10209663" cy="4113054"/>
          </a:xfrm>
          <a:noFill/>
        </p:spPr>
        <p:txBody>
          <a:bodyPr vert="horz" lIns="91440" tIns="45720" rIns="91440" bIns="45720" rtlCol="0" anchor="t">
            <a:normAutofit/>
          </a:bodyPr>
          <a:lstStyle/>
          <a:p>
            <a:pPr lvl="1" indent="0">
              <a:buNone/>
            </a:pPr>
            <a:r>
              <a:rPr lang="en-US" sz="3200" dirty="0"/>
              <a:t>Incorporating just culture into performance reviews, incident management, and postmortems requires thoughtful alignment. Existing systems often incentivize short-term results or blame, which conflicts with long-term learning.</a:t>
            </a:r>
          </a:p>
          <a:p>
            <a:pPr lvl="1" indent="0">
              <a:buNone/>
            </a:pPr>
            <a:endParaRPr lang="en-US" dirty="0"/>
          </a:p>
        </p:txBody>
      </p:sp>
      <p:sp>
        <p:nvSpPr>
          <p:cNvPr id="5" name="Rectangle 4">
            <a:extLst>
              <a:ext uri="{FF2B5EF4-FFF2-40B4-BE49-F238E27FC236}">
                <a16:creationId xmlns:a16="http://schemas.microsoft.com/office/drawing/2014/main" id="{BABE6891-0BF3-17AA-728B-191D69D57D97}"/>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48591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3462A-6B8A-3CBB-5B49-008EAE5E3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5073B-F80A-F0AC-32ED-32CECF6D1A07}"/>
              </a:ext>
            </a:extLst>
          </p:cNvPr>
          <p:cNvSpPr>
            <a:spLocks noGrp="1"/>
          </p:cNvSpPr>
          <p:nvPr>
            <p:ph type="title"/>
          </p:nvPr>
        </p:nvSpPr>
        <p:spPr>
          <a:xfrm>
            <a:off x="838200" y="365760"/>
            <a:ext cx="10515600" cy="1325563"/>
          </a:xfrm>
          <a:noFill/>
        </p:spPr>
        <p:txBody>
          <a:bodyPr anchor="ctr"/>
          <a:lstStyle/>
          <a:p>
            <a:r>
              <a:rPr lang="en-US" dirty="0"/>
              <a:t>Just Culture: Balancing Accountability and Learning</a:t>
            </a:r>
          </a:p>
        </p:txBody>
      </p:sp>
      <p:sp>
        <p:nvSpPr>
          <p:cNvPr id="3" name="Content Placeholder 2">
            <a:extLst>
              <a:ext uri="{FF2B5EF4-FFF2-40B4-BE49-F238E27FC236}">
                <a16:creationId xmlns:a16="http://schemas.microsoft.com/office/drawing/2014/main" id="{D29A6336-060F-13B0-CFF3-F5CCC94B5D4C}"/>
              </a:ext>
            </a:extLst>
          </p:cNvPr>
          <p:cNvSpPr>
            <a:spLocks noGrp="1"/>
          </p:cNvSpPr>
          <p:nvPr>
            <p:ph sz="quarter" idx="15"/>
          </p:nvPr>
        </p:nvSpPr>
        <p:spPr>
          <a:xfrm>
            <a:off x="991168" y="1691323"/>
            <a:ext cx="10209663" cy="4113054"/>
          </a:xfrm>
          <a:noFill/>
        </p:spPr>
        <p:txBody>
          <a:bodyPr vert="horz" lIns="91440" tIns="45720" rIns="91440" bIns="45720" rtlCol="0" anchor="t">
            <a:normAutofit fontScale="70000" lnSpcReduction="20000"/>
          </a:bodyPr>
          <a:lstStyle/>
          <a:p>
            <a:pPr lvl="1" indent="0">
              <a:buNone/>
            </a:pPr>
            <a:r>
              <a:rPr lang="en-US" sz="3800" dirty="0"/>
              <a:t>🔺 Just Culture Triangle:</a:t>
            </a:r>
          </a:p>
          <a:p>
            <a:pPr lvl="1" indent="0">
              <a:buNone/>
            </a:pPr>
            <a:endParaRPr lang="en-US" sz="3800" dirty="0"/>
          </a:p>
          <a:p>
            <a:pPr lvl="1" indent="0">
              <a:buNone/>
            </a:pPr>
            <a:r>
              <a:rPr lang="en-US" sz="3800" dirty="0"/>
              <a:t>- Human Error (Console, Coach)</a:t>
            </a:r>
          </a:p>
          <a:p>
            <a:pPr lvl="1" indent="0">
              <a:buNone/>
            </a:pPr>
            <a:r>
              <a:rPr lang="en-US" sz="3800" dirty="0"/>
              <a:t>- At-Risk Behavior (Redirect)</a:t>
            </a:r>
          </a:p>
          <a:p>
            <a:pPr lvl="1" indent="0">
              <a:buNone/>
            </a:pPr>
            <a:r>
              <a:rPr lang="en-US" sz="3800" dirty="0"/>
              <a:t>- Reckless Behavior (Discipline)</a:t>
            </a:r>
          </a:p>
          <a:p>
            <a:pPr lvl="1" indent="0">
              <a:buNone/>
            </a:pPr>
            <a:endParaRPr lang="en-US" sz="3800" dirty="0"/>
          </a:p>
          <a:p>
            <a:pPr lvl="1" indent="0">
              <a:buNone/>
            </a:pPr>
            <a:r>
              <a:rPr lang="en-US" sz="3800" dirty="0"/>
              <a:t>This model helps distinguish between types of actions and informs appropriate organizational responses.</a:t>
            </a:r>
          </a:p>
          <a:p>
            <a:pPr lvl="1" indent="0">
              <a:buNone/>
            </a:pPr>
            <a:endParaRPr lang="en-US" dirty="0"/>
          </a:p>
        </p:txBody>
      </p:sp>
      <p:sp>
        <p:nvSpPr>
          <p:cNvPr id="5" name="Rectangle 4">
            <a:extLst>
              <a:ext uri="{FF2B5EF4-FFF2-40B4-BE49-F238E27FC236}">
                <a16:creationId xmlns:a16="http://schemas.microsoft.com/office/drawing/2014/main" id="{2722CA1F-2667-6919-AE67-5E16B0B1C11F}"/>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435672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DBE3-A546-AAF5-8547-621DC1510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5CCE0B-5F9E-C846-DC9D-F7D1A2CCA1B7}"/>
              </a:ext>
            </a:extLst>
          </p:cNvPr>
          <p:cNvSpPr>
            <a:spLocks noGrp="1"/>
          </p:cNvSpPr>
          <p:nvPr>
            <p:ph type="title"/>
          </p:nvPr>
        </p:nvSpPr>
        <p:spPr>
          <a:xfrm>
            <a:off x="838200" y="365760"/>
            <a:ext cx="10515600" cy="1325563"/>
          </a:xfrm>
          <a:noFill/>
        </p:spPr>
        <p:txBody>
          <a:bodyPr anchor="ctr"/>
          <a:lstStyle/>
          <a:p>
            <a:r>
              <a:rPr lang="en-US" dirty="0"/>
              <a:t>Just Culture: Balancing Accountability and Learning</a:t>
            </a:r>
          </a:p>
        </p:txBody>
      </p:sp>
      <p:sp>
        <p:nvSpPr>
          <p:cNvPr id="5" name="Rectangle 4">
            <a:extLst>
              <a:ext uri="{FF2B5EF4-FFF2-40B4-BE49-F238E27FC236}">
                <a16:creationId xmlns:a16="http://schemas.microsoft.com/office/drawing/2014/main" id="{2AF5DE0F-A597-CED0-CEF9-3074641E717C}"/>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7" name="Content Placeholder 6">
            <a:extLst>
              <a:ext uri="{FF2B5EF4-FFF2-40B4-BE49-F238E27FC236}">
                <a16:creationId xmlns:a16="http://schemas.microsoft.com/office/drawing/2014/main" id="{F1BF4DAF-AAA0-EB05-BB48-61E855D8B95A}"/>
              </a:ext>
            </a:extLst>
          </p:cNvPr>
          <p:cNvPicPr>
            <a:picLocks noGrp="1" noChangeAspect="1"/>
          </p:cNvPicPr>
          <p:nvPr>
            <p:ph sz="quarter" idx="15"/>
          </p:nvPr>
        </p:nvPicPr>
        <p:blipFill>
          <a:blip r:embed="rId3"/>
          <a:stretch>
            <a:fillRect/>
          </a:stretch>
        </p:blipFill>
        <p:spPr>
          <a:xfrm>
            <a:off x="4144777" y="1888621"/>
            <a:ext cx="3902445" cy="3902445"/>
          </a:xfrm>
          <a:prstGeom prst="rect">
            <a:avLst/>
          </a:prstGeom>
        </p:spPr>
      </p:pic>
    </p:spTree>
    <p:extLst>
      <p:ext uri="{BB962C8B-B14F-4D97-AF65-F5344CB8AC3E}">
        <p14:creationId xmlns:p14="http://schemas.microsoft.com/office/powerpoint/2010/main" val="1663785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C0997-B579-E102-C173-7E4AAC2E21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CFFD16-7808-477F-FBE7-6F2C435B4213}"/>
              </a:ext>
            </a:extLst>
          </p:cNvPr>
          <p:cNvSpPr>
            <a:spLocks noGrp="1"/>
          </p:cNvSpPr>
          <p:nvPr>
            <p:ph type="title"/>
          </p:nvPr>
        </p:nvSpPr>
        <p:spPr>
          <a:xfrm>
            <a:off x="838200" y="365760"/>
            <a:ext cx="10515600" cy="1325563"/>
          </a:xfrm>
          <a:noFill/>
        </p:spPr>
        <p:txBody>
          <a:bodyPr anchor="ctr"/>
          <a:lstStyle/>
          <a:p>
            <a:r>
              <a:rPr lang="en-US" dirty="0"/>
              <a:t>Conclusion</a:t>
            </a:r>
          </a:p>
        </p:txBody>
      </p:sp>
      <p:sp>
        <p:nvSpPr>
          <p:cNvPr id="3" name="Content Placeholder 2">
            <a:extLst>
              <a:ext uri="{FF2B5EF4-FFF2-40B4-BE49-F238E27FC236}">
                <a16:creationId xmlns:a16="http://schemas.microsoft.com/office/drawing/2014/main" id="{9DF8FC5E-EC58-1427-AA6F-4E48EAD96872}"/>
              </a:ext>
            </a:extLst>
          </p:cNvPr>
          <p:cNvSpPr>
            <a:spLocks noGrp="1"/>
          </p:cNvSpPr>
          <p:nvPr>
            <p:ph sz="quarter" idx="15"/>
          </p:nvPr>
        </p:nvSpPr>
        <p:spPr>
          <a:xfrm>
            <a:off x="991168" y="1691323"/>
            <a:ext cx="10209663" cy="4113054"/>
          </a:xfrm>
          <a:noFill/>
        </p:spPr>
        <p:txBody>
          <a:bodyPr vert="horz" lIns="91440" tIns="45720" rIns="91440" bIns="45720" rtlCol="0" anchor="t">
            <a:normAutofit fontScale="92500" lnSpcReduction="20000"/>
          </a:bodyPr>
          <a:lstStyle/>
          <a:p>
            <a:r>
              <a:rPr lang="en-US" sz="4100" dirty="0"/>
              <a:t>Implementing a just, learning culture takes time and commitment. Overcoming barriers such as fear, poor communication, and lack of leadership buy-in is critical to building a resilient, high-performing organization.</a:t>
            </a:r>
          </a:p>
          <a:p>
            <a:pPr lvl="1" indent="0">
              <a:buNone/>
            </a:pPr>
            <a:endParaRPr lang="en-US" dirty="0"/>
          </a:p>
        </p:txBody>
      </p:sp>
      <p:sp>
        <p:nvSpPr>
          <p:cNvPr id="5" name="Rectangle 4">
            <a:extLst>
              <a:ext uri="{FF2B5EF4-FFF2-40B4-BE49-F238E27FC236}">
                <a16:creationId xmlns:a16="http://schemas.microsoft.com/office/drawing/2014/main" id="{F3AE49E3-AC8B-4B66-54B0-5FA6E033A4C6}"/>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896878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A1D91-BBC5-E954-BF30-2C160D288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B2958-A8E0-D9C9-A997-01CB85030045}"/>
              </a:ext>
            </a:extLst>
          </p:cNvPr>
          <p:cNvSpPr>
            <a:spLocks noGrp="1"/>
          </p:cNvSpPr>
          <p:nvPr>
            <p:ph type="title"/>
          </p:nvPr>
        </p:nvSpPr>
        <p:spPr>
          <a:xfrm>
            <a:off x="838200" y="365760"/>
            <a:ext cx="10515600" cy="1325563"/>
          </a:xfrm>
          <a:noFill/>
        </p:spPr>
        <p:txBody>
          <a:bodyPr anchor="ctr"/>
          <a:lstStyle/>
          <a:p>
            <a:r>
              <a:rPr lang="en-US" dirty="0"/>
              <a:t>References</a:t>
            </a:r>
          </a:p>
        </p:txBody>
      </p:sp>
      <p:sp>
        <p:nvSpPr>
          <p:cNvPr id="3" name="Content Placeholder 2">
            <a:extLst>
              <a:ext uri="{FF2B5EF4-FFF2-40B4-BE49-F238E27FC236}">
                <a16:creationId xmlns:a16="http://schemas.microsoft.com/office/drawing/2014/main" id="{F97F1BB6-FE9A-F3E1-07A4-44CD123E4379}"/>
              </a:ext>
            </a:extLst>
          </p:cNvPr>
          <p:cNvSpPr>
            <a:spLocks noGrp="1"/>
          </p:cNvSpPr>
          <p:nvPr>
            <p:ph sz="quarter" idx="15"/>
          </p:nvPr>
        </p:nvSpPr>
        <p:spPr>
          <a:xfrm>
            <a:off x="991168" y="1691323"/>
            <a:ext cx="10209663" cy="4113054"/>
          </a:xfrm>
          <a:noFill/>
        </p:spPr>
        <p:txBody>
          <a:bodyPr vert="horz" lIns="91440" tIns="45720" rIns="91440" bIns="45720" rtlCol="0" anchor="t">
            <a:normAutofit fontScale="47500" lnSpcReduction="20000"/>
          </a:bodyPr>
          <a:lstStyle/>
          <a:p>
            <a:r>
              <a:rPr lang="en-US" sz="6600" dirty="0"/>
              <a:t>- Kim, G., Humble, J., Debois, P., Willis, J., &amp; Forsgren, N. (2021). The DevOps Handbook (2nd ed.). IT Revolution.</a:t>
            </a:r>
          </a:p>
          <a:p>
            <a:r>
              <a:rPr lang="en-US" sz="6600" dirty="0"/>
              <a:t>- Boysen, P. G., Dittus, R. S., &amp; Dunn, A. S. (2016). “A Just Culture Approach to Quality Improvement.” Mayo Clinic.</a:t>
            </a:r>
          </a:p>
          <a:p>
            <a:r>
              <a:rPr lang="en-US" sz="6600" dirty="0"/>
              <a:t>- Dekker, S. (2012). Just Culture: Balancing Safety and Accountability. Ashgate Publishing.</a:t>
            </a:r>
          </a:p>
          <a:p>
            <a:pPr lvl="1" indent="0">
              <a:buNone/>
            </a:pPr>
            <a:endParaRPr lang="en-US" dirty="0"/>
          </a:p>
        </p:txBody>
      </p:sp>
      <p:sp>
        <p:nvSpPr>
          <p:cNvPr id="5" name="Rectangle 4">
            <a:extLst>
              <a:ext uri="{FF2B5EF4-FFF2-40B4-BE49-F238E27FC236}">
                <a16:creationId xmlns:a16="http://schemas.microsoft.com/office/drawing/2014/main" id="{C1EE5957-41DB-D887-0B6A-1A332E1910CA}"/>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81310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437" y="400485"/>
            <a:ext cx="9467127" cy="2527911"/>
          </a:xfrm>
        </p:spPr>
        <p:txBody>
          <a:bodyPr/>
          <a:lstStyle/>
          <a:p>
            <a:r>
              <a:rPr lang="en-US" dirty="0"/>
              <a:t>THANK YOU</a:t>
            </a:r>
          </a:p>
        </p:txBody>
      </p:sp>
      <p:sp>
        <p:nvSpPr>
          <p:cNvPr id="8" name="Text Placeholder 7">
            <a:extLst>
              <a:ext uri="{FF2B5EF4-FFF2-40B4-BE49-F238E27FC236}">
                <a16:creationId xmlns:a16="http://schemas.microsoft.com/office/drawing/2014/main" id="{86613063-168A-02B8-4326-BB842F3B83E2}"/>
              </a:ext>
            </a:extLst>
          </p:cNvPr>
          <p:cNvSpPr>
            <a:spLocks noGrp="1"/>
          </p:cNvSpPr>
          <p:nvPr>
            <p:ph type="body" sz="quarter" idx="10"/>
          </p:nvPr>
        </p:nvSpPr>
        <p:spPr>
          <a:xfrm>
            <a:off x="1362075" y="3738622"/>
            <a:ext cx="9467850" cy="2527911"/>
          </a:xfrm>
        </p:spPr>
        <p:txBody>
          <a:bodyPr/>
          <a:lstStyle/>
          <a:p>
            <a:endParaRPr lang="en-US" dirty="0"/>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3.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{503F61B2-80BE-444F-BF9A-0721BE3805CA}tf55661986_win32</Template>
  <TotalTime>89</TotalTime>
  <Words>421</Words>
  <Application>Microsoft Office PowerPoint</Application>
  <PresentationFormat>Widescreen</PresentationFormat>
  <Paragraphs>39</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Calibri Light</vt:lpstr>
      <vt:lpstr>Wingdings</vt:lpstr>
      <vt:lpstr>Custom</vt:lpstr>
      <vt:lpstr>Establishing a Just, Learning Culture  Module 9 Chelsea Hefferin</vt:lpstr>
      <vt:lpstr>Introduction</vt:lpstr>
      <vt:lpstr>Cultural Resistance</vt:lpstr>
      <vt:lpstr>Lack of Leadership Support</vt:lpstr>
      <vt:lpstr>Misunderstanding of Just Culture</vt:lpstr>
      <vt:lpstr>Poor Communication &amp; Psychological Safety</vt:lpstr>
      <vt:lpstr>Integration Challenges</vt:lpstr>
      <vt:lpstr>Just Culture: Balancing Accountability and Learning</vt:lpstr>
      <vt:lpstr>Just Culture: Balancing Accountability and Learning</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Chelsea Hefferin</dc:creator>
  <cp:lastModifiedBy>Chelsea Hefferin</cp:lastModifiedBy>
  <cp:revision>3</cp:revision>
  <dcterms:created xsi:type="dcterms:W3CDTF">2025-05-04T20:39:10Z</dcterms:created>
  <dcterms:modified xsi:type="dcterms:W3CDTF">2025-05-04T22:09:06Z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